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embeddedFontLst>
    <p:embeddedFont>
      <p:font typeface="Red Hat Text" panose="020B0604020202020204" charset="0"/>
      <p:regular r:id="rId14"/>
    </p:embeddedFont>
    <p:embeddedFont>
      <p:font typeface="Red Hat Text Light" panose="020B0604020202020204" charset="0"/>
      <p:regular r:id="rId15"/>
    </p:embeddedFont>
    <p:embeddedFont>
      <p:font typeface="Roboto Bold" panose="020B0604020202020204" charset="0"/>
      <p:regular r:id="rId16"/>
    </p:embeddedFont>
    <p:embeddedFont>
      <p:font typeface="Roboto Light" panose="020F0502020204030204" pitchFamily="2" charset="0"/>
      <p:regular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2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shini MV" userId="0ffb62a6472da327" providerId="LiveId" clId="{61EB3D2E-1D55-4B72-AA53-89AA7EE273D7}"/>
    <pc:docChg chg="modSld">
      <pc:chgData name="Varshini MV" userId="0ffb62a6472da327" providerId="LiveId" clId="{61EB3D2E-1D55-4B72-AA53-89AA7EE273D7}" dt="2026-08-14T13:01:02.354" v="26" actId="6549"/>
      <pc:docMkLst>
        <pc:docMk/>
      </pc:docMkLst>
      <pc:sldChg chg="modSp mod">
        <pc:chgData name="Varshini MV" userId="0ffb62a6472da327" providerId="LiveId" clId="{61EB3D2E-1D55-4B72-AA53-89AA7EE273D7}" dt="2026-08-14T13:01:02.354" v="26" actId="6549"/>
        <pc:sldMkLst>
          <pc:docMk/>
          <pc:sldMk cId="0" sldId="256"/>
        </pc:sldMkLst>
        <pc:spChg chg="mod">
          <ac:chgData name="Varshini MV" userId="0ffb62a6472da327" providerId="LiveId" clId="{61EB3D2E-1D55-4B72-AA53-89AA7EE273D7}" dt="2026-08-14T13:01:02.354" v="26" actId="6549"/>
          <ac:spMkLst>
            <pc:docMk/>
            <pc:sldMk cId="0" sldId="256"/>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2259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AFA"/>
          </a:solidFill>
          <a:ln/>
        </p:spPr>
      </p:sp>
      <p:pic>
        <p:nvPicPr>
          <p:cNvPr id="4" name="Image 1" descr="preencoded.png"/>
          <p:cNvPicPr>
            <a:picLocks noChangeAspect="1"/>
          </p:cNvPicPr>
          <p:nvPr/>
        </p:nvPicPr>
        <p:blipFill>
          <a:blip r:embed="rId3"/>
          <a:stretch>
            <a:fillRect/>
          </a:stretch>
        </p:blipFill>
        <p:spPr>
          <a:xfrm>
            <a:off x="0" y="0"/>
            <a:ext cx="9144000" cy="5143500"/>
          </a:xfrm>
          <a:prstGeom prst="rect">
            <a:avLst/>
          </a:prstGeom>
        </p:spPr>
      </p:pic>
      <p:sp>
        <p:nvSpPr>
          <p:cNvPr id="5" name="Shape 1"/>
          <p:cNvSpPr/>
          <p:nvPr/>
        </p:nvSpPr>
        <p:spPr>
          <a:xfrm>
            <a:off x="0" y="0"/>
            <a:ext cx="9144000" cy="5143500"/>
          </a:xfrm>
          <a:prstGeom prst="rect">
            <a:avLst/>
          </a:prstGeom>
          <a:solidFill>
            <a:srgbClr val="FFFAFA">
              <a:alpha val="85000"/>
            </a:srgbClr>
          </a:solidFill>
          <a:ln/>
        </p:spPr>
      </p:sp>
      <p:pic>
        <p:nvPicPr>
          <p:cNvPr id="6" name="Image 2" descr="preencoded.png">
            <a:hlinkClick r:id="rId4"/>
          </p:cNvPr>
          <p:cNvPicPr>
            <a:picLocks noChangeAspect="1"/>
          </p:cNvPicPr>
          <p:nvPr/>
        </p:nvPicPr>
        <p:blipFill>
          <a:blip r:embed="rId5"/>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523577" y="1356345"/>
            <a:ext cx="4667845" cy="1320031"/>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1F1E1E"/>
                </a:solidFill>
                <a:latin typeface="Red Hat Text" pitchFamily="34" charset="0"/>
                <a:ea typeface="Red Hat Text" pitchFamily="34" charset="-122"/>
                <a:cs typeface="Red Hat Text" pitchFamily="34" charset="-120"/>
              </a:rPr>
              <a:t>SWIGGY SALES &amp; BUSINESS ANALYTICS DASHBOARD</a:t>
            </a:r>
            <a:endParaRPr lang="en-US" sz="2750" dirty="0"/>
          </a:p>
        </p:txBody>
      </p:sp>
      <p:sp>
        <p:nvSpPr>
          <p:cNvPr id="4" name="Text 1"/>
          <p:cNvSpPr/>
          <p:nvPr/>
        </p:nvSpPr>
        <p:spPr>
          <a:xfrm>
            <a:off x="523577" y="2900735"/>
            <a:ext cx="4667845" cy="886420"/>
          </a:xfrm>
          <a:prstGeom prst="rect">
            <a:avLst/>
          </a:prstGeom>
          <a:noFill/>
          <a:ln/>
        </p:spPr>
        <p:txBody>
          <a:bodyPr wrap="square" lIns="0" tIns="0" rIns="0" bIns="0" rtlCol="0" anchor="t"/>
          <a:lstStyle/>
          <a:p>
            <a:pPr marL="0" indent="0" algn="l">
              <a:lnSpc>
                <a:spcPct val="133000"/>
              </a:lnSpc>
              <a:spcAft>
                <a:spcPts val="1300"/>
              </a:spcAft>
              <a:buNone/>
            </a:pPr>
            <a:r>
              <a:rPr lang="en-US" sz="1150" dirty="0">
                <a:solidFill>
                  <a:srgbClr val="3B3535"/>
                </a:solidFill>
                <a:latin typeface="Roboto Light" pitchFamily="34" charset="0"/>
                <a:ea typeface="Roboto Light" pitchFamily="34" charset="-122"/>
                <a:cs typeface="Roboto Light" pitchFamily="34" charset="-120"/>
              </a:rPr>
              <a:t>An Interactive Sales Analysis Project Using Microsoft Excel</a:t>
            </a:r>
            <a:endParaRPr lang="en-US" sz="1150" dirty="0"/>
          </a:p>
          <a:p>
            <a:pPr>
              <a:lnSpc>
                <a:spcPct val="133000"/>
              </a:lnSpc>
            </a:pPr>
            <a:r>
              <a:rPr lang="en-US" sz="1150" b="1" dirty="0">
                <a:solidFill>
                  <a:srgbClr val="3B3535"/>
                </a:solidFill>
                <a:latin typeface="Roboto Bold" pitchFamily="34" charset="0"/>
                <a:ea typeface="Roboto Bold" pitchFamily="34" charset="-122"/>
                <a:cs typeface="Roboto Bold" pitchFamily="34" charset="-120"/>
              </a:rPr>
              <a:t>Presented by:</a:t>
            </a:r>
            <a:r>
              <a:rPr lang="en-US" sz="1150" dirty="0">
                <a:solidFill>
                  <a:srgbClr val="3B3535"/>
                </a:solidFill>
                <a:latin typeface="Roboto Light" pitchFamily="34" charset="0"/>
                <a:ea typeface="Roboto Light" pitchFamily="34" charset="-122"/>
                <a:cs typeface="Roboto Light" pitchFamily="34" charset="-120"/>
              </a:rPr>
              <a:t> Varshini </a:t>
            </a:r>
            <a:r>
              <a:rPr lang="en-US" sz="1150">
                <a:solidFill>
                  <a:srgbClr val="3B3535"/>
                </a:solidFill>
                <a:latin typeface="Roboto Light" pitchFamily="34" charset="0"/>
                <a:ea typeface="Roboto Light" pitchFamily="34" charset="-122"/>
                <a:cs typeface="Roboto Light" pitchFamily="34" charset="-120"/>
              </a:rPr>
              <a:t>M V</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523577" y="1565374"/>
            <a:ext cx="4667845" cy="352053"/>
          </a:xfrm>
          <a:prstGeom prst="rect">
            <a:avLst/>
          </a:prstGeom>
          <a:noFill/>
          <a:ln/>
        </p:spPr>
        <p:txBody>
          <a:bodyPr wrap="none" lIns="0" tIns="0" rIns="0" bIns="0" rtlCol="0" anchor="t"/>
          <a:lstStyle/>
          <a:p>
            <a:pPr marL="0" indent="0" algn="l">
              <a:lnSpc>
                <a:spcPct val="104000"/>
              </a:lnSpc>
              <a:buNone/>
            </a:pPr>
            <a:r>
              <a:rPr lang="en-US" sz="2200" dirty="0">
                <a:solidFill>
                  <a:srgbClr val="1F1E1E"/>
                </a:solidFill>
                <a:latin typeface="Red Hat Text" pitchFamily="34" charset="0"/>
                <a:ea typeface="Red Hat Text" pitchFamily="34" charset="-122"/>
                <a:cs typeface="Red Hat Text" pitchFamily="34" charset="-120"/>
              </a:rPr>
              <a:t>Introduction</a:t>
            </a:r>
            <a:endParaRPr lang="en-US" sz="2200" dirty="0"/>
          </a:p>
        </p:txBody>
      </p:sp>
      <p:sp>
        <p:nvSpPr>
          <p:cNvPr id="4" name="Text 1"/>
          <p:cNvSpPr/>
          <p:nvPr/>
        </p:nvSpPr>
        <p:spPr>
          <a:xfrm>
            <a:off x="523577" y="2141786"/>
            <a:ext cx="4667845" cy="143634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3B3535"/>
                </a:solidFill>
                <a:latin typeface="Roboto Light" pitchFamily="34" charset="0"/>
                <a:ea typeface="Roboto Light" pitchFamily="34" charset="-122"/>
                <a:cs typeface="Roboto Light" pitchFamily="34" charset="-120"/>
              </a:rPr>
              <a:t>Swiggy is a leading online food delivery platform generating high-volume transactional data across orders, restaurants, items, locations and ratings. Converting this raw data into structured analysis reveals sales performance, ordering behaviour, restaurant health, food preferences and geographic trends. This project builds an interactive Excel dashboard to turn data into quick, actionable insights.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523577" y="421928"/>
            <a:ext cx="4667845" cy="280541"/>
          </a:xfrm>
          <a:prstGeom prst="rect">
            <a:avLst/>
          </a:prstGeom>
          <a:noFill/>
          <a:ln/>
        </p:spPr>
        <p:txBody>
          <a:bodyPr wrap="none" lIns="0" tIns="0" rIns="0" bIns="0" rtlCol="0" anchor="t"/>
          <a:lstStyle/>
          <a:p>
            <a:pPr marL="0" indent="0" algn="l">
              <a:lnSpc>
                <a:spcPct val="104000"/>
              </a:lnSpc>
              <a:buNone/>
            </a:pPr>
            <a:r>
              <a:rPr lang="en-US" sz="1750" dirty="0">
                <a:solidFill>
                  <a:srgbClr val="1F1E1E"/>
                </a:solidFill>
                <a:latin typeface="Red Hat Text" pitchFamily="34" charset="0"/>
                <a:ea typeface="Red Hat Text" pitchFamily="34" charset="-122"/>
                <a:cs typeface="Red Hat Text" pitchFamily="34" charset="-120"/>
              </a:rPr>
              <a:t>Purpose of the Project</a:t>
            </a:r>
            <a:endParaRPr lang="en-US" sz="1750" dirty="0"/>
          </a:p>
        </p:txBody>
      </p:sp>
      <p:sp>
        <p:nvSpPr>
          <p:cNvPr id="4" name="Text 1"/>
          <p:cNvSpPr/>
          <p:nvPr/>
        </p:nvSpPr>
        <p:spPr>
          <a:xfrm>
            <a:off x="523577" y="844972"/>
            <a:ext cx="238423" cy="148977"/>
          </a:xfrm>
          <a:prstGeom prst="rect">
            <a:avLst/>
          </a:prstGeom>
          <a:noFill/>
          <a:ln/>
        </p:spPr>
        <p:txBody>
          <a:bodyPr wrap="none" lIns="0" tIns="0" rIns="0" bIns="0" rtlCol="0" anchor="ctr"/>
          <a:lstStyle/>
          <a:p>
            <a:pPr marL="0" indent="0" algn="l">
              <a:lnSpc>
                <a:spcPct val="100000"/>
              </a:lnSpc>
              <a:buNone/>
            </a:pPr>
            <a:r>
              <a:rPr lang="en-US" sz="900" dirty="0">
                <a:solidFill>
                  <a:srgbClr val="3B3535"/>
                </a:solidFill>
                <a:latin typeface="Red Hat Text Light" pitchFamily="34" charset="0"/>
                <a:ea typeface="Red Hat Text Light" pitchFamily="34" charset="-122"/>
                <a:cs typeface="Red Hat Text Light" pitchFamily="34" charset="-120"/>
              </a:rPr>
              <a:t>01</a:t>
            </a:r>
            <a:endParaRPr lang="en-US" sz="900" dirty="0"/>
          </a:p>
        </p:txBody>
      </p:sp>
      <p:sp>
        <p:nvSpPr>
          <p:cNvPr id="5" name="Shape 2"/>
          <p:cNvSpPr/>
          <p:nvPr/>
        </p:nvSpPr>
        <p:spPr>
          <a:xfrm>
            <a:off x="523577" y="1033239"/>
            <a:ext cx="4667845" cy="14288"/>
          </a:xfrm>
          <a:prstGeom prst="rect">
            <a:avLst/>
          </a:prstGeom>
          <a:solidFill>
            <a:srgbClr val="F5A3A3"/>
          </a:solidFill>
          <a:ln/>
        </p:spPr>
      </p:sp>
      <p:sp>
        <p:nvSpPr>
          <p:cNvPr id="6" name="Text 3"/>
          <p:cNvSpPr/>
          <p:nvPr/>
        </p:nvSpPr>
        <p:spPr>
          <a:xfrm>
            <a:off x="523577" y="1121420"/>
            <a:ext cx="4667845" cy="175320"/>
          </a:xfrm>
          <a:prstGeom prst="rect">
            <a:avLst/>
          </a:prstGeom>
          <a:noFill/>
          <a:ln/>
        </p:spPr>
        <p:txBody>
          <a:bodyPr wrap="none" lIns="0" tIns="0" rIns="0" bIns="0" rtlCol="0" anchor="t"/>
          <a:lstStyle/>
          <a:p>
            <a:pPr marL="0" indent="0" algn="l">
              <a:lnSpc>
                <a:spcPct val="104000"/>
              </a:lnSpc>
              <a:buNone/>
            </a:pPr>
            <a:r>
              <a:rPr lang="en-US" sz="1100" dirty="0">
                <a:solidFill>
                  <a:srgbClr val="3B3535"/>
                </a:solidFill>
                <a:latin typeface="Red Hat Text" pitchFamily="34" charset="0"/>
                <a:ea typeface="Red Hat Text" pitchFamily="34" charset="-122"/>
                <a:cs typeface="Red Hat Text" pitchFamily="34" charset="-120"/>
              </a:rPr>
              <a:t>Goal</a:t>
            </a:r>
            <a:endParaRPr lang="en-US" sz="1100" dirty="0"/>
          </a:p>
        </p:txBody>
      </p:sp>
      <p:sp>
        <p:nvSpPr>
          <p:cNvPr id="7" name="Text 4"/>
          <p:cNvSpPr/>
          <p:nvPr/>
        </p:nvSpPr>
        <p:spPr>
          <a:xfrm>
            <a:off x="523577" y="1353741"/>
            <a:ext cx="4667845" cy="342602"/>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3B3535"/>
                </a:solidFill>
                <a:latin typeface="Roboto Light" pitchFamily="34" charset="0"/>
                <a:ea typeface="Roboto Light" pitchFamily="34" charset="-122"/>
                <a:cs typeface="Roboto Light" pitchFamily="34" charset="-120"/>
              </a:rPr>
              <a:t>Transform raw Swiggy sales data into business insights using Excel dashboards for operational and strategic decisions.</a:t>
            </a:r>
            <a:endParaRPr lang="en-US" sz="900" dirty="0"/>
          </a:p>
        </p:txBody>
      </p:sp>
      <p:sp>
        <p:nvSpPr>
          <p:cNvPr id="8" name="Text 5"/>
          <p:cNvSpPr/>
          <p:nvPr/>
        </p:nvSpPr>
        <p:spPr>
          <a:xfrm>
            <a:off x="523577" y="1880667"/>
            <a:ext cx="238423" cy="148977"/>
          </a:xfrm>
          <a:prstGeom prst="rect">
            <a:avLst/>
          </a:prstGeom>
          <a:noFill/>
          <a:ln/>
        </p:spPr>
        <p:txBody>
          <a:bodyPr wrap="none" lIns="0" tIns="0" rIns="0" bIns="0" rtlCol="0" anchor="ctr"/>
          <a:lstStyle/>
          <a:p>
            <a:pPr marL="0" indent="0" algn="l">
              <a:lnSpc>
                <a:spcPct val="100000"/>
              </a:lnSpc>
              <a:buNone/>
            </a:pPr>
            <a:r>
              <a:rPr lang="en-US" sz="900" dirty="0">
                <a:solidFill>
                  <a:srgbClr val="3B3535"/>
                </a:solidFill>
                <a:latin typeface="Red Hat Text Light" pitchFamily="34" charset="0"/>
                <a:ea typeface="Red Hat Text Light" pitchFamily="34" charset="-122"/>
                <a:cs typeface="Red Hat Text Light" pitchFamily="34" charset="-120"/>
              </a:rPr>
              <a:t>02</a:t>
            </a:r>
            <a:endParaRPr lang="en-US" sz="900" dirty="0"/>
          </a:p>
        </p:txBody>
      </p:sp>
      <p:sp>
        <p:nvSpPr>
          <p:cNvPr id="9" name="Shape 6"/>
          <p:cNvSpPr/>
          <p:nvPr/>
        </p:nvSpPr>
        <p:spPr>
          <a:xfrm>
            <a:off x="523577" y="2068934"/>
            <a:ext cx="4667845" cy="14288"/>
          </a:xfrm>
          <a:prstGeom prst="rect">
            <a:avLst/>
          </a:prstGeom>
          <a:solidFill>
            <a:srgbClr val="F5A3A3"/>
          </a:solidFill>
          <a:ln/>
        </p:spPr>
      </p:sp>
      <p:sp>
        <p:nvSpPr>
          <p:cNvPr id="10" name="Text 7"/>
          <p:cNvSpPr/>
          <p:nvPr/>
        </p:nvSpPr>
        <p:spPr>
          <a:xfrm>
            <a:off x="523577" y="2157115"/>
            <a:ext cx="4667845" cy="175320"/>
          </a:xfrm>
          <a:prstGeom prst="rect">
            <a:avLst/>
          </a:prstGeom>
          <a:noFill/>
          <a:ln/>
        </p:spPr>
        <p:txBody>
          <a:bodyPr wrap="none" lIns="0" tIns="0" rIns="0" bIns="0" rtlCol="0" anchor="t"/>
          <a:lstStyle/>
          <a:p>
            <a:pPr marL="0" indent="0" algn="l">
              <a:lnSpc>
                <a:spcPct val="104000"/>
              </a:lnSpc>
              <a:buNone/>
            </a:pPr>
            <a:r>
              <a:rPr lang="en-US" sz="1100" dirty="0">
                <a:solidFill>
                  <a:srgbClr val="3B3535"/>
                </a:solidFill>
                <a:latin typeface="Red Hat Text" pitchFamily="34" charset="0"/>
                <a:ea typeface="Red Hat Text" pitchFamily="34" charset="-122"/>
                <a:cs typeface="Red Hat Text" pitchFamily="34" charset="-120"/>
              </a:rPr>
              <a:t>Objectives</a:t>
            </a:r>
            <a:endParaRPr lang="en-US" sz="1100" dirty="0"/>
          </a:p>
        </p:txBody>
      </p:sp>
      <p:sp>
        <p:nvSpPr>
          <p:cNvPr id="11" name="Text 8"/>
          <p:cNvSpPr/>
          <p:nvPr/>
        </p:nvSpPr>
        <p:spPr>
          <a:xfrm>
            <a:off x="523577" y="2389436"/>
            <a:ext cx="4667845" cy="342602"/>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3B3535"/>
                </a:solidFill>
                <a:latin typeface="Roboto Light" pitchFamily="34" charset="0"/>
                <a:ea typeface="Roboto Light" pitchFamily="34" charset="-122"/>
                <a:cs typeface="Roboto Light" pitchFamily="34" charset="-120"/>
              </a:rPr>
              <a:t>1. Analyze total sales &amp; orders  •  2. Identify monthly &amp; weekly trends  •  3. Compare food categories</a:t>
            </a:r>
            <a:endParaRPr lang="en-US" sz="900" dirty="0"/>
          </a:p>
        </p:txBody>
      </p:sp>
      <p:sp>
        <p:nvSpPr>
          <p:cNvPr id="12" name="Text 9"/>
          <p:cNvSpPr/>
          <p:nvPr/>
        </p:nvSpPr>
        <p:spPr>
          <a:xfrm>
            <a:off x="523577" y="2916362"/>
            <a:ext cx="238423" cy="148977"/>
          </a:xfrm>
          <a:prstGeom prst="rect">
            <a:avLst/>
          </a:prstGeom>
          <a:noFill/>
          <a:ln/>
        </p:spPr>
        <p:txBody>
          <a:bodyPr wrap="none" lIns="0" tIns="0" rIns="0" bIns="0" rtlCol="0" anchor="ctr"/>
          <a:lstStyle/>
          <a:p>
            <a:pPr marL="0" indent="0" algn="l">
              <a:lnSpc>
                <a:spcPct val="100000"/>
              </a:lnSpc>
              <a:buNone/>
            </a:pPr>
            <a:r>
              <a:rPr lang="en-US" sz="900" dirty="0">
                <a:solidFill>
                  <a:srgbClr val="3B3535"/>
                </a:solidFill>
                <a:latin typeface="Red Hat Text Light" pitchFamily="34" charset="0"/>
                <a:ea typeface="Red Hat Text Light" pitchFamily="34" charset="-122"/>
                <a:cs typeface="Red Hat Text Light" pitchFamily="34" charset="-120"/>
              </a:rPr>
              <a:t>03</a:t>
            </a:r>
            <a:endParaRPr lang="en-US" sz="900" dirty="0"/>
          </a:p>
        </p:txBody>
      </p:sp>
      <p:sp>
        <p:nvSpPr>
          <p:cNvPr id="13" name="Shape 10"/>
          <p:cNvSpPr/>
          <p:nvPr/>
        </p:nvSpPr>
        <p:spPr>
          <a:xfrm>
            <a:off x="523577" y="3104629"/>
            <a:ext cx="4667845" cy="14288"/>
          </a:xfrm>
          <a:prstGeom prst="rect">
            <a:avLst/>
          </a:prstGeom>
          <a:solidFill>
            <a:srgbClr val="F5A3A3"/>
          </a:solidFill>
          <a:ln/>
        </p:spPr>
      </p:sp>
      <p:sp>
        <p:nvSpPr>
          <p:cNvPr id="14" name="Text 11"/>
          <p:cNvSpPr/>
          <p:nvPr/>
        </p:nvSpPr>
        <p:spPr>
          <a:xfrm>
            <a:off x="523577" y="3192810"/>
            <a:ext cx="4667845" cy="175320"/>
          </a:xfrm>
          <a:prstGeom prst="rect">
            <a:avLst/>
          </a:prstGeom>
          <a:noFill/>
          <a:ln/>
        </p:spPr>
        <p:txBody>
          <a:bodyPr wrap="none" lIns="0" tIns="0" rIns="0" bIns="0" rtlCol="0" anchor="t"/>
          <a:lstStyle/>
          <a:p>
            <a:pPr marL="0" indent="0" algn="l">
              <a:lnSpc>
                <a:spcPct val="104000"/>
              </a:lnSpc>
              <a:buNone/>
            </a:pPr>
            <a:r>
              <a:rPr lang="en-US" sz="1100" dirty="0">
                <a:solidFill>
                  <a:srgbClr val="3B3535"/>
                </a:solidFill>
                <a:latin typeface="Red Hat Text" pitchFamily="34" charset="0"/>
                <a:ea typeface="Red Hat Text" pitchFamily="34" charset="-122"/>
                <a:cs typeface="Red Hat Text" pitchFamily="34" charset="-120"/>
              </a:rPr>
              <a:t>Objectives (cont.)</a:t>
            </a:r>
            <a:endParaRPr lang="en-US" sz="1100" dirty="0"/>
          </a:p>
        </p:txBody>
      </p:sp>
      <p:sp>
        <p:nvSpPr>
          <p:cNvPr id="15" name="Text 12"/>
          <p:cNvSpPr/>
          <p:nvPr/>
        </p:nvSpPr>
        <p:spPr>
          <a:xfrm>
            <a:off x="523577" y="3425130"/>
            <a:ext cx="4667845" cy="342602"/>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3B3535"/>
                </a:solidFill>
                <a:latin typeface="Roboto Light" pitchFamily="34" charset="0"/>
                <a:ea typeface="Roboto Light" pitchFamily="34" charset="-122"/>
                <a:cs typeface="Roboto Light" pitchFamily="34" charset="-120"/>
              </a:rPr>
              <a:t>4. Analyze by state &amp; city  •  5. Study customer ratings  •  6. Highlight top cities &amp; quarterly performance</a:t>
            </a:r>
            <a:endParaRPr lang="en-US" sz="900" dirty="0"/>
          </a:p>
        </p:txBody>
      </p:sp>
      <p:sp>
        <p:nvSpPr>
          <p:cNvPr id="16" name="Text 13"/>
          <p:cNvSpPr/>
          <p:nvPr/>
        </p:nvSpPr>
        <p:spPr>
          <a:xfrm>
            <a:off x="523577" y="3952056"/>
            <a:ext cx="238423" cy="148977"/>
          </a:xfrm>
          <a:prstGeom prst="rect">
            <a:avLst/>
          </a:prstGeom>
          <a:noFill/>
          <a:ln/>
        </p:spPr>
        <p:txBody>
          <a:bodyPr wrap="none" lIns="0" tIns="0" rIns="0" bIns="0" rtlCol="0" anchor="ctr"/>
          <a:lstStyle/>
          <a:p>
            <a:pPr marL="0" indent="0" algn="l">
              <a:lnSpc>
                <a:spcPct val="100000"/>
              </a:lnSpc>
              <a:buNone/>
            </a:pPr>
            <a:r>
              <a:rPr lang="en-US" sz="900" dirty="0">
                <a:solidFill>
                  <a:srgbClr val="3B3535"/>
                </a:solidFill>
                <a:latin typeface="Red Hat Text Light" pitchFamily="34" charset="0"/>
                <a:ea typeface="Red Hat Text Light" pitchFamily="34" charset="-122"/>
                <a:cs typeface="Red Hat Text Light" pitchFamily="34" charset="-120"/>
              </a:rPr>
              <a:t>04</a:t>
            </a:r>
            <a:endParaRPr lang="en-US" sz="900" dirty="0"/>
          </a:p>
        </p:txBody>
      </p:sp>
      <p:sp>
        <p:nvSpPr>
          <p:cNvPr id="17" name="Shape 14"/>
          <p:cNvSpPr/>
          <p:nvPr/>
        </p:nvSpPr>
        <p:spPr>
          <a:xfrm>
            <a:off x="523577" y="4140324"/>
            <a:ext cx="4667845" cy="14288"/>
          </a:xfrm>
          <a:prstGeom prst="rect">
            <a:avLst/>
          </a:prstGeom>
          <a:solidFill>
            <a:srgbClr val="F5A3A3"/>
          </a:solidFill>
          <a:ln/>
        </p:spPr>
      </p:sp>
      <p:sp>
        <p:nvSpPr>
          <p:cNvPr id="18" name="Text 15"/>
          <p:cNvSpPr/>
          <p:nvPr/>
        </p:nvSpPr>
        <p:spPr>
          <a:xfrm>
            <a:off x="523577" y="4228505"/>
            <a:ext cx="4667845" cy="175320"/>
          </a:xfrm>
          <a:prstGeom prst="rect">
            <a:avLst/>
          </a:prstGeom>
          <a:noFill/>
          <a:ln/>
        </p:spPr>
        <p:txBody>
          <a:bodyPr wrap="none" lIns="0" tIns="0" rIns="0" bIns="0" rtlCol="0" anchor="t"/>
          <a:lstStyle/>
          <a:p>
            <a:pPr marL="0" indent="0" algn="l">
              <a:lnSpc>
                <a:spcPct val="104000"/>
              </a:lnSpc>
              <a:buNone/>
            </a:pPr>
            <a:r>
              <a:rPr lang="en-US" sz="1100" dirty="0">
                <a:solidFill>
                  <a:srgbClr val="3B3535"/>
                </a:solidFill>
                <a:latin typeface="Red Hat Text" pitchFamily="34" charset="0"/>
                <a:ea typeface="Red Hat Text" pitchFamily="34" charset="-122"/>
                <a:cs typeface="Red Hat Text" pitchFamily="34" charset="-120"/>
              </a:rPr>
              <a:t>Outcome</a:t>
            </a:r>
            <a:endParaRPr lang="en-US" sz="1100" dirty="0"/>
          </a:p>
        </p:txBody>
      </p:sp>
      <p:sp>
        <p:nvSpPr>
          <p:cNvPr id="19" name="Text 16"/>
          <p:cNvSpPr/>
          <p:nvPr/>
        </p:nvSpPr>
        <p:spPr>
          <a:xfrm>
            <a:off x="523577" y="4460825"/>
            <a:ext cx="4667845" cy="171301"/>
          </a:xfrm>
          <a:prstGeom prst="rect">
            <a:avLst/>
          </a:prstGeom>
          <a:noFill/>
          <a:ln/>
        </p:spPr>
        <p:txBody>
          <a:bodyPr wrap="none" lIns="0" tIns="0" rIns="0" bIns="0" rtlCol="0" anchor="t"/>
          <a:lstStyle/>
          <a:p>
            <a:pPr marL="0" indent="0" algn="l">
              <a:lnSpc>
                <a:spcPct val="120000"/>
              </a:lnSpc>
              <a:buNone/>
            </a:pPr>
            <a:r>
              <a:rPr lang="en-US" sz="900" dirty="0">
                <a:solidFill>
                  <a:srgbClr val="3B3535"/>
                </a:solidFill>
                <a:latin typeface="Roboto Light" pitchFamily="34" charset="0"/>
                <a:ea typeface="Roboto Light" pitchFamily="34" charset="-122"/>
                <a:cs typeface="Roboto Light" pitchFamily="34" charset="-120"/>
              </a:rPr>
              <a:t>Deliver an interactive, user-friendly dashboard to support data-driven decisions.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23577" y="559296"/>
            <a:ext cx="3877345" cy="2181002"/>
          </a:xfrm>
          <a:prstGeom prst="rect">
            <a:avLst/>
          </a:prstGeom>
        </p:spPr>
      </p:pic>
      <p:sp>
        <p:nvSpPr>
          <p:cNvPr id="3" name="Text 0"/>
          <p:cNvSpPr/>
          <p:nvPr/>
        </p:nvSpPr>
        <p:spPr>
          <a:xfrm>
            <a:off x="4747840" y="1099542"/>
            <a:ext cx="3877345" cy="330026"/>
          </a:xfrm>
          <a:prstGeom prst="rect">
            <a:avLst/>
          </a:prstGeom>
          <a:noFill/>
          <a:ln/>
        </p:spPr>
        <p:txBody>
          <a:bodyPr wrap="none" lIns="0" tIns="0" rIns="0" bIns="0" rtlCol="0" anchor="t"/>
          <a:lstStyle/>
          <a:p>
            <a:pPr marL="0" indent="0" algn="l">
              <a:lnSpc>
                <a:spcPct val="104000"/>
              </a:lnSpc>
              <a:buNone/>
            </a:pPr>
            <a:r>
              <a:rPr lang="en-US" sz="2050" dirty="0">
                <a:solidFill>
                  <a:srgbClr val="1F1E1E"/>
                </a:solidFill>
                <a:latin typeface="Red Hat Text" pitchFamily="34" charset="0"/>
                <a:ea typeface="Red Hat Text" pitchFamily="34" charset="-122"/>
                <a:cs typeface="Red Hat Text" pitchFamily="34" charset="-120"/>
              </a:rPr>
              <a:t>Dataset &amp; Key Parameters</a:t>
            </a:r>
            <a:endParaRPr lang="en-US" sz="2050" dirty="0"/>
          </a:p>
        </p:txBody>
      </p:sp>
      <p:sp>
        <p:nvSpPr>
          <p:cNvPr id="4" name="Text 1"/>
          <p:cNvSpPr/>
          <p:nvPr/>
        </p:nvSpPr>
        <p:spPr>
          <a:xfrm>
            <a:off x="4747840" y="1561058"/>
            <a:ext cx="3877345" cy="652090"/>
          </a:xfrm>
          <a:prstGeom prst="rect">
            <a:avLst/>
          </a:prstGeom>
          <a:noFill/>
          <a:ln/>
        </p:spPr>
        <p:txBody>
          <a:bodyPr wrap="square" lIns="0" tIns="0" rIns="0" bIns="0" rtlCol="0" anchor="t">
            <a:normAutofit/>
          </a:bodyPr>
          <a:lstStyle/>
          <a:p>
            <a:pPr marL="0" indent="0" algn="l">
              <a:lnSpc>
                <a:spcPct val="129000"/>
              </a:lnSpc>
              <a:buNone/>
            </a:pPr>
            <a:r>
              <a:rPr lang="en-US" sz="1100" dirty="0">
                <a:solidFill>
                  <a:srgbClr val="3B3535"/>
                </a:solidFill>
                <a:latin typeface="Roboto Light" pitchFamily="34" charset="0"/>
                <a:ea typeface="Roboto Light" pitchFamily="34" charset="-122"/>
                <a:cs typeface="Roboto Light" pitchFamily="34" charset="-120"/>
              </a:rPr>
              <a:t>The dashboard is built from transactional order data with fields such as order details, date, food category, restaurant, city, state, sales amount and rating.</a:t>
            </a:r>
            <a:endParaRPr lang="en-US" sz="1100" dirty="0"/>
          </a:p>
        </p:txBody>
      </p:sp>
      <p:sp>
        <p:nvSpPr>
          <p:cNvPr id="5" name="Shape 2"/>
          <p:cNvSpPr/>
          <p:nvPr/>
        </p:nvSpPr>
        <p:spPr>
          <a:xfrm>
            <a:off x="523577" y="3036019"/>
            <a:ext cx="1925538" cy="782910"/>
          </a:xfrm>
          <a:prstGeom prst="roundRect">
            <a:avLst>
              <a:gd name="adj" fmla="val 2687"/>
            </a:avLst>
          </a:prstGeom>
          <a:solidFill>
            <a:srgbClr val="F3E8E8"/>
          </a:solidFill>
          <a:ln/>
        </p:spPr>
      </p:sp>
      <p:sp>
        <p:nvSpPr>
          <p:cNvPr id="6" name="Text 3"/>
          <p:cNvSpPr/>
          <p:nvPr/>
        </p:nvSpPr>
        <p:spPr>
          <a:xfrm>
            <a:off x="663773" y="3176215"/>
            <a:ext cx="1645146" cy="206276"/>
          </a:xfrm>
          <a:prstGeom prst="rect">
            <a:avLst/>
          </a:prstGeom>
          <a:noFill/>
          <a:ln/>
        </p:spPr>
        <p:txBody>
          <a:bodyPr wrap="none" lIns="0" tIns="0" rIns="0" bIns="0" rtlCol="0" anchor="t"/>
          <a:lstStyle/>
          <a:p>
            <a:pPr marL="0" indent="0" algn="l">
              <a:lnSpc>
                <a:spcPct val="104000"/>
              </a:lnSpc>
              <a:buNone/>
            </a:pPr>
            <a:r>
              <a:rPr lang="en-US" sz="1250" dirty="0">
                <a:solidFill>
                  <a:srgbClr val="3B3535"/>
                </a:solidFill>
                <a:latin typeface="Red Hat Text" pitchFamily="34" charset="0"/>
                <a:ea typeface="Red Hat Text" pitchFamily="34" charset="-122"/>
                <a:cs typeface="Red Hat Text" pitchFamily="34" charset="-120"/>
              </a:rPr>
              <a:t>Total Sales</a:t>
            </a:r>
            <a:endParaRPr lang="en-US" sz="1250" dirty="0"/>
          </a:p>
        </p:txBody>
      </p:sp>
      <p:sp>
        <p:nvSpPr>
          <p:cNvPr id="7" name="Text 4"/>
          <p:cNvSpPr/>
          <p:nvPr/>
        </p:nvSpPr>
        <p:spPr>
          <a:xfrm>
            <a:off x="663773" y="3461370"/>
            <a:ext cx="1645146" cy="217363"/>
          </a:xfrm>
          <a:prstGeom prst="rect">
            <a:avLst/>
          </a:prstGeom>
          <a:noFill/>
          <a:ln/>
        </p:spPr>
        <p:txBody>
          <a:bodyPr wrap="none" lIns="0" tIns="0" rIns="0" bIns="0" rtlCol="0" anchor="t"/>
          <a:lstStyle/>
          <a:p>
            <a:pPr marL="0" indent="0" algn="l">
              <a:lnSpc>
                <a:spcPct val="129000"/>
              </a:lnSpc>
              <a:buNone/>
            </a:pPr>
            <a:r>
              <a:rPr lang="en-US" sz="1100" dirty="0">
                <a:solidFill>
                  <a:srgbClr val="3B3535"/>
                </a:solidFill>
                <a:latin typeface="Roboto Light" pitchFamily="34" charset="0"/>
                <a:ea typeface="Roboto Light" pitchFamily="34" charset="-122"/>
                <a:cs typeface="Roboto Light" pitchFamily="34" charset="-120"/>
              </a:rPr>
              <a:t>₹53.01M</a:t>
            </a:r>
            <a:endParaRPr lang="en-US" sz="1100" dirty="0"/>
          </a:p>
        </p:txBody>
      </p:sp>
      <p:sp>
        <p:nvSpPr>
          <p:cNvPr id="8" name="Shape 5"/>
          <p:cNvSpPr/>
          <p:nvPr/>
        </p:nvSpPr>
        <p:spPr>
          <a:xfrm>
            <a:off x="2580605" y="3036019"/>
            <a:ext cx="1925613" cy="782910"/>
          </a:xfrm>
          <a:prstGeom prst="roundRect">
            <a:avLst>
              <a:gd name="adj" fmla="val 2687"/>
            </a:avLst>
          </a:prstGeom>
          <a:solidFill>
            <a:srgbClr val="F3E8E8"/>
          </a:solidFill>
          <a:ln/>
        </p:spPr>
      </p:sp>
      <p:sp>
        <p:nvSpPr>
          <p:cNvPr id="9" name="Text 6"/>
          <p:cNvSpPr/>
          <p:nvPr/>
        </p:nvSpPr>
        <p:spPr>
          <a:xfrm>
            <a:off x="2720801" y="3176215"/>
            <a:ext cx="1645221" cy="206276"/>
          </a:xfrm>
          <a:prstGeom prst="rect">
            <a:avLst/>
          </a:prstGeom>
          <a:noFill/>
          <a:ln/>
        </p:spPr>
        <p:txBody>
          <a:bodyPr wrap="none" lIns="0" tIns="0" rIns="0" bIns="0" rtlCol="0" anchor="t"/>
          <a:lstStyle/>
          <a:p>
            <a:pPr marL="0" indent="0" algn="l">
              <a:lnSpc>
                <a:spcPct val="104000"/>
              </a:lnSpc>
              <a:buNone/>
            </a:pPr>
            <a:r>
              <a:rPr lang="en-US" sz="1250" dirty="0">
                <a:solidFill>
                  <a:srgbClr val="3B3535"/>
                </a:solidFill>
                <a:latin typeface="Red Hat Text" pitchFamily="34" charset="0"/>
                <a:ea typeface="Red Hat Text" pitchFamily="34" charset="-122"/>
                <a:cs typeface="Red Hat Text" pitchFamily="34" charset="-120"/>
              </a:rPr>
              <a:t>Average Rating</a:t>
            </a:r>
            <a:endParaRPr lang="en-US" sz="1250" dirty="0"/>
          </a:p>
        </p:txBody>
      </p:sp>
      <p:sp>
        <p:nvSpPr>
          <p:cNvPr id="10" name="Text 7"/>
          <p:cNvSpPr/>
          <p:nvPr/>
        </p:nvSpPr>
        <p:spPr>
          <a:xfrm>
            <a:off x="2720801" y="3461370"/>
            <a:ext cx="1645221" cy="217363"/>
          </a:xfrm>
          <a:prstGeom prst="rect">
            <a:avLst/>
          </a:prstGeom>
          <a:noFill/>
          <a:ln/>
        </p:spPr>
        <p:txBody>
          <a:bodyPr wrap="none" lIns="0" tIns="0" rIns="0" bIns="0" rtlCol="0" anchor="t"/>
          <a:lstStyle/>
          <a:p>
            <a:pPr marL="0" indent="0" algn="l">
              <a:lnSpc>
                <a:spcPct val="129000"/>
              </a:lnSpc>
              <a:buNone/>
            </a:pPr>
            <a:r>
              <a:rPr lang="en-US" sz="1100" dirty="0">
                <a:solidFill>
                  <a:srgbClr val="3B3535"/>
                </a:solidFill>
                <a:latin typeface="Roboto Light" pitchFamily="34" charset="0"/>
                <a:ea typeface="Roboto Light" pitchFamily="34" charset="-122"/>
                <a:cs typeface="Roboto Light" pitchFamily="34" charset="-120"/>
              </a:rPr>
              <a:t>4.34</a:t>
            </a:r>
            <a:endParaRPr lang="en-US" sz="1100" dirty="0"/>
          </a:p>
        </p:txBody>
      </p:sp>
      <p:sp>
        <p:nvSpPr>
          <p:cNvPr id="11" name="Shape 8"/>
          <p:cNvSpPr/>
          <p:nvPr/>
        </p:nvSpPr>
        <p:spPr>
          <a:xfrm>
            <a:off x="4637708" y="3036019"/>
            <a:ext cx="1925613" cy="782910"/>
          </a:xfrm>
          <a:prstGeom prst="roundRect">
            <a:avLst>
              <a:gd name="adj" fmla="val 2687"/>
            </a:avLst>
          </a:prstGeom>
          <a:solidFill>
            <a:srgbClr val="F3E8E8"/>
          </a:solidFill>
          <a:ln/>
        </p:spPr>
      </p:sp>
      <p:sp>
        <p:nvSpPr>
          <p:cNvPr id="12" name="Text 9"/>
          <p:cNvSpPr/>
          <p:nvPr/>
        </p:nvSpPr>
        <p:spPr>
          <a:xfrm>
            <a:off x="4777904" y="3176215"/>
            <a:ext cx="1645221" cy="206276"/>
          </a:xfrm>
          <a:prstGeom prst="rect">
            <a:avLst/>
          </a:prstGeom>
          <a:noFill/>
          <a:ln/>
        </p:spPr>
        <p:txBody>
          <a:bodyPr wrap="none" lIns="0" tIns="0" rIns="0" bIns="0" rtlCol="0" anchor="t"/>
          <a:lstStyle/>
          <a:p>
            <a:pPr marL="0" indent="0" algn="l">
              <a:lnSpc>
                <a:spcPct val="104000"/>
              </a:lnSpc>
              <a:buNone/>
            </a:pPr>
            <a:r>
              <a:rPr lang="en-US" sz="1250" dirty="0">
                <a:solidFill>
                  <a:srgbClr val="3B3535"/>
                </a:solidFill>
                <a:latin typeface="Red Hat Text" pitchFamily="34" charset="0"/>
                <a:ea typeface="Red Hat Text" pitchFamily="34" charset="-122"/>
                <a:cs typeface="Red Hat Text" pitchFamily="34" charset="-120"/>
              </a:rPr>
              <a:t>Avg Order Value</a:t>
            </a:r>
            <a:endParaRPr lang="en-US" sz="1250" dirty="0"/>
          </a:p>
        </p:txBody>
      </p:sp>
      <p:sp>
        <p:nvSpPr>
          <p:cNvPr id="13" name="Text 10"/>
          <p:cNvSpPr/>
          <p:nvPr/>
        </p:nvSpPr>
        <p:spPr>
          <a:xfrm>
            <a:off x="4777904" y="3461370"/>
            <a:ext cx="1645221" cy="217363"/>
          </a:xfrm>
          <a:prstGeom prst="rect">
            <a:avLst/>
          </a:prstGeom>
          <a:noFill/>
          <a:ln/>
        </p:spPr>
        <p:txBody>
          <a:bodyPr wrap="none" lIns="0" tIns="0" rIns="0" bIns="0" rtlCol="0" anchor="t"/>
          <a:lstStyle/>
          <a:p>
            <a:pPr marL="0" indent="0" algn="l">
              <a:lnSpc>
                <a:spcPct val="129000"/>
              </a:lnSpc>
              <a:buNone/>
            </a:pPr>
            <a:r>
              <a:rPr lang="en-US" sz="1100" dirty="0">
                <a:solidFill>
                  <a:srgbClr val="3B3535"/>
                </a:solidFill>
                <a:latin typeface="Roboto Light" pitchFamily="34" charset="0"/>
                <a:ea typeface="Roboto Light" pitchFamily="34" charset="-122"/>
                <a:cs typeface="Roboto Light" pitchFamily="34" charset="-120"/>
              </a:rPr>
              <a:t>₹268.51</a:t>
            </a:r>
            <a:endParaRPr lang="en-US" sz="1100" dirty="0"/>
          </a:p>
        </p:txBody>
      </p:sp>
      <p:sp>
        <p:nvSpPr>
          <p:cNvPr id="14" name="Shape 11"/>
          <p:cNvSpPr/>
          <p:nvPr/>
        </p:nvSpPr>
        <p:spPr>
          <a:xfrm>
            <a:off x="6694810" y="3036019"/>
            <a:ext cx="1925613" cy="782910"/>
          </a:xfrm>
          <a:prstGeom prst="roundRect">
            <a:avLst>
              <a:gd name="adj" fmla="val 2687"/>
            </a:avLst>
          </a:prstGeom>
          <a:solidFill>
            <a:srgbClr val="F3E8E8"/>
          </a:solidFill>
          <a:ln/>
        </p:spPr>
      </p:sp>
      <p:sp>
        <p:nvSpPr>
          <p:cNvPr id="15" name="Text 12"/>
          <p:cNvSpPr/>
          <p:nvPr/>
        </p:nvSpPr>
        <p:spPr>
          <a:xfrm>
            <a:off x="6835006" y="3176215"/>
            <a:ext cx="1645221" cy="206276"/>
          </a:xfrm>
          <a:prstGeom prst="rect">
            <a:avLst/>
          </a:prstGeom>
          <a:noFill/>
          <a:ln/>
        </p:spPr>
        <p:txBody>
          <a:bodyPr wrap="none" lIns="0" tIns="0" rIns="0" bIns="0" rtlCol="0" anchor="t"/>
          <a:lstStyle/>
          <a:p>
            <a:pPr marL="0" indent="0" algn="l">
              <a:lnSpc>
                <a:spcPct val="104000"/>
              </a:lnSpc>
              <a:buNone/>
            </a:pPr>
            <a:r>
              <a:rPr lang="en-US" sz="1250" dirty="0">
                <a:solidFill>
                  <a:srgbClr val="3B3535"/>
                </a:solidFill>
                <a:latin typeface="Red Hat Text" pitchFamily="34" charset="0"/>
                <a:ea typeface="Red Hat Text" pitchFamily="34" charset="-122"/>
                <a:cs typeface="Red Hat Text" pitchFamily="34" charset="-120"/>
              </a:rPr>
              <a:t>Rating Count</a:t>
            </a:r>
            <a:endParaRPr lang="en-US" sz="1250" dirty="0"/>
          </a:p>
        </p:txBody>
      </p:sp>
      <p:sp>
        <p:nvSpPr>
          <p:cNvPr id="16" name="Text 13"/>
          <p:cNvSpPr/>
          <p:nvPr/>
        </p:nvSpPr>
        <p:spPr>
          <a:xfrm>
            <a:off x="6835006" y="3461370"/>
            <a:ext cx="1645221" cy="217363"/>
          </a:xfrm>
          <a:prstGeom prst="rect">
            <a:avLst/>
          </a:prstGeom>
          <a:noFill/>
          <a:ln/>
        </p:spPr>
        <p:txBody>
          <a:bodyPr wrap="none" lIns="0" tIns="0" rIns="0" bIns="0" rtlCol="0" anchor="t"/>
          <a:lstStyle/>
          <a:p>
            <a:pPr marL="0" indent="0" algn="l">
              <a:lnSpc>
                <a:spcPct val="129000"/>
              </a:lnSpc>
              <a:buNone/>
            </a:pPr>
            <a:r>
              <a:rPr lang="en-US" sz="1100" dirty="0">
                <a:solidFill>
                  <a:srgbClr val="3B3535"/>
                </a:solidFill>
                <a:latin typeface="Roboto Light" pitchFamily="34" charset="0"/>
                <a:ea typeface="Roboto Light" pitchFamily="34" charset="-122"/>
                <a:cs typeface="Roboto Light" pitchFamily="34" charset="-120"/>
              </a:rPr>
              <a:t>5.59M</a:t>
            </a:r>
            <a:endParaRPr lang="en-US" sz="1100" dirty="0"/>
          </a:p>
        </p:txBody>
      </p:sp>
      <p:sp>
        <p:nvSpPr>
          <p:cNvPr id="17" name="Shape 14"/>
          <p:cNvSpPr/>
          <p:nvPr/>
        </p:nvSpPr>
        <p:spPr>
          <a:xfrm>
            <a:off x="523577" y="3950419"/>
            <a:ext cx="8096845" cy="782910"/>
          </a:xfrm>
          <a:prstGeom prst="roundRect">
            <a:avLst>
              <a:gd name="adj" fmla="val 2687"/>
            </a:avLst>
          </a:prstGeom>
          <a:solidFill>
            <a:srgbClr val="F3E8E8"/>
          </a:solidFill>
          <a:ln/>
        </p:spPr>
      </p:sp>
      <p:sp>
        <p:nvSpPr>
          <p:cNvPr id="18" name="Text 15"/>
          <p:cNvSpPr/>
          <p:nvPr/>
        </p:nvSpPr>
        <p:spPr>
          <a:xfrm>
            <a:off x="663773" y="4090615"/>
            <a:ext cx="7816453" cy="206276"/>
          </a:xfrm>
          <a:prstGeom prst="rect">
            <a:avLst/>
          </a:prstGeom>
          <a:noFill/>
          <a:ln/>
        </p:spPr>
        <p:txBody>
          <a:bodyPr wrap="none" lIns="0" tIns="0" rIns="0" bIns="0" rtlCol="0" anchor="t"/>
          <a:lstStyle/>
          <a:p>
            <a:pPr marL="0" indent="0" algn="l">
              <a:lnSpc>
                <a:spcPct val="104000"/>
              </a:lnSpc>
              <a:buNone/>
            </a:pPr>
            <a:r>
              <a:rPr lang="en-US" sz="1250" dirty="0">
                <a:solidFill>
                  <a:srgbClr val="3B3535"/>
                </a:solidFill>
                <a:latin typeface="Red Hat Text" pitchFamily="34" charset="0"/>
                <a:ea typeface="Red Hat Text" pitchFamily="34" charset="-122"/>
                <a:cs typeface="Red Hat Text" pitchFamily="34" charset="-120"/>
              </a:rPr>
              <a:t>Total Orders</a:t>
            </a:r>
            <a:endParaRPr lang="en-US" sz="1250" dirty="0"/>
          </a:p>
        </p:txBody>
      </p:sp>
      <p:sp>
        <p:nvSpPr>
          <p:cNvPr id="19" name="Text 16"/>
          <p:cNvSpPr/>
          <p:nvPr/>
        </p:nvSpPr>
        <p:spPr>
          <a:xfrm>
            <a:off x="663773" y="4375770"/>
            <a:ext cx="7816453" cy="217363"/>
          </a:xfrm>
          <a:prstGeom prst="rect">
            <a:avLst/>
          </a:prstGeom>
          <a:noFill/>
          <a:ln/>
        </p:spPr>
        <p:txBody>
          <a:bodyPr wrap="none" lIns="0" tIns="0" rIns="0" bIns="0" rtlCol="0" anchor="t"/>
          <a:lstStyle/>
          <a:p>
            <a:pPr marL="0" indent="0" algn="l">
              <a:lnSpc>
                <a:spcPct val="129000"/>
              </a:lnSpc>
              <a:buNone/>
            </a:pPr>
            <a:r>
              <a:rPr lang="en-US" sz="1100" dirty="0">
                <a:solidFill>
                  <a:srgbClr val="3B3535"/>
                </a:solidFill>
                <a:latin typeface="Roboto Light" pitchFamily="34" charset="0"/>
                <a:ea typeface="Roboto Light" pitchFamily="34" charset="-122"/>
                <a:cs typeface="Roboto Light" pitchFamily="34" charset="-120"/>
              </a:rPr>
              <a:t>197.43K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23577" y="1722462"/>
            <a:ext cx="3019723" cy="1698575"/>
          </a:xfrm>
          <a:prstGeom prst="rect">
            <a:avLst/>
          </a:prstGeom>
        </p:spPr>
      </p:pic>
      <p:sp>
        <p:nvSpPr>
          <p:cNvPr id="3" name="Text 0"/>
          <p:cNvSpPr/>
          <p:nvPr/>
        </p:nvSpPr>
        <p:spPr>
          <a:xfrm>
            <a:off x="3912989" y="944612"/>
            <a:ext cx="4712122" cy="352053"/>
          </a:xfrm>
          <a:prstGeom prst="rect">
            <a:avLst/>
          </a:prstGeom>
          <a:noFill/>
          <a:ln/>
        </p:spPr>
        <p:txBody>
          <a:bodyPr wrap="none" lIns="0" tIns="0" rIns="0" bIns="0" rtlCol="0" anchor="t"/>
          <a:lstStyle/>
          <a:p>
            <a:pPr marL="0" indent="0" algn="l">
              <a:lnSpc>
                <a:spcPct val="104000"/>
              </a:lnSpc>
              <a:buNone/>
            </a:pPr>
            <a:r>
              <a:rPr lang="en-US" sz="2200" dirty="0">
                <a:solidFill>
                  <a:srgbClr val="1F1E1E"/>
                </a:solidFill>
                <a:latin typeface="Red Hat Text" pitchFamily="34" charset="0"/>
                <a:ea typeface="Red Hat Text" pitchFamily="34" charset="-122"/>
                <a:cs typeface="Red Hat Text" pitchFamily="34" charset="-120"/>
              </a:rPr>
              <a:t>Tools &amp; Technologies</a:t>
            </a:r>
            <a:endParaRPr lang="en-US" sz="2200" dirty="0"/>
          </a:p>
        </p:txBody>
      </p:sp>
      <p:sp>
        <p:nvSpPr>
          <p:cNvPr id="4" name="Text 1"/>
          <p:cNvSpPr/>
          <p:nvPr/>
        </p:nvSpPr>
        <p:spPr>
          <a:xfrm>
            <a:off x="3912989" y="1446237"/>
            <a:ext cx="4712122" cy="613395"/>
          </a:xfrm>
          <a:prstGeom prst="rect">
            <a:avLst/>
          </a:prstGeom>
          <a:noFill/>
          <a:ln/>
        </p:spPr>
        <p:txBody>
          <a:bodyPr wrap="square" lIns="0" tIns="0" rIns="0" bIns="0" rtlCol="0" anchor="t"/>
          <a:lstStyle/>
          <a:p>
            <a:pPr marL="0" indent="0" algn="l">
              <a:lnSpc>
                <a:spcPct val="133000"/>
              </a:lnSpc>
              <a:spcAft>
                <a:spcPts val="1050"/>
              </a:spcAft>
              <a:buNone/>
            </a:pPr>
            <a:r>
              <a:rPr lang="en-US" sz="1150" b="1" dirty="0">
                <a:solidFill>
                  <a:srgbClr val="3B3535"/>
                </a:solidFill>
                <a:latin typeface="Roboto Bold" pitchFamily="34" charset="0"/>
                <a:ea typeface="Roboto Bold" pitchFamily="34" charset="-122"/>
                <a:cs typeface="Roboto Bold" pitchFamily="34" charset="-120"/>
              </a:rPr>
              <a:t>Main Tool:</a:t>
            </a:r>
            <a:r>
              <a:rPr lang="en-US" sz="1150" dirty="0">
                <a:solidFill>
                  <a:srgbClr val="3B3535"/>
                </a:solidFill>
                <a:latin typeface="Roboto Light" pitchFamily="34" charset="0"/>
                <a:ea typeface="Roboto Light" pitchFamily="34" charset="-122"/>
                <a:cs typeface="Roboto Light" pitchFamily="34" charset="-120"/>
              </a:rPr>
              <a:t> Microsoft Excel</a:t>
            </a:r>
            <a:endParaRPr lang="en-US" sz="1150" dirty="0"/>
          </a:p>
          <a:p>
            <a:pPr marL="0" indent="0" algn="l">
              <a:lnSpc>
                <a:spcPct val="133000"/>
              </a:lnSpc>
              <a:buNone/>
            </a:pPr>
            <a:r>
              <a:rPr lang="en-US" sz="1150" dirty="0">
                <a:solidFill>
                  <a:srgbClr val="3B3535"/>
                </a:solidFill>
                <a:latin typeface="Roboto Light" pitchFamily="34" charset="0"/>
                <a:ea typeface="Roboto Light" pitchFamily="34" charset="-122"/>
                <a:cs typeface="Roboto Light" pitchFamily="34" charset="-120"/>
              </a:rPr>
              <a:t>Key Excel features used:</a:t>
            </a:r>
            <a:endParaRPr lang="en-US" sz="1150" dirty="0"/>
          </a:p>
        </p:txBody>
      </p:sp>
      <p:sp>
        <p:nvSpPr>
          <p:cNvPr id="5" name="Text 2"/>
          <p:cNvSpPr/>
          <p:nvPr/>
        </p:nvSpPr>
        <p:spPr>
          <a:xfrm>
            <a:off x="3912989" y="2194247"/>
            <a:ext cx="4712122" cy="1406203"/>
          </a:xfrm>
          <a:prstGeom prst="rect">
            <a:avLst/>
          </a:prstGeom>
          <a:noFill/>
          <a:ln/>
        </p:spPr>
        <p:txBody>
          <a:bodyPr wrap="square" lIns="0" tIns="59845" rIns="0" bIns="0" rtlCol="0" anchor="t">
            <a:normAutofit/>
          </a:bodyPr>
          <a:lstStyle/>
          <a:p>
            <a:pPr marL="233680" indent="-233680" algn="l">
              <a:lnSpc>
                <a:spcPct val="133000"/>
              </a:lnSpc>
              <a:buSzPct val="100000"/>
              <a:buChar char="•"/>
            </a:pPr>
            <a:r>
              <a:rPr lang="en-US" sz="1150" dirty="0">
                <a:solidFill>
                  <a:srgbClr val="3B3535"/>
                </a:solidFill>
                <a:latin typeface="Roboto Light" pitchFamily="34" charset="0"/>
                <a:ea typeface="Roboto Light" pitchFamily="34" charset="-122"/>
                <a:cs typeface="Roboto Light" pitchFamily="34" charset="-120"/>
              </a:rPr>
              <a:t>Data cleaning &amp; filtering</a:t>
            </a:r>
            <a:endParaRPr lang="en-US" sz="1150" dirty="0"/>
          </a:p>
          <a:p>
            <a:pPr marL="233680" indent="-233680" algn="l">
              <a:lnSpc>
                <a:spcPct val="133000"/>
              </a:lnSpc>
              <a:buSzPct val="100000"/>
              <a:buChar char="•"/>
            </a:pPr>
            <a:r>
              <a:rPr lang="en-US" sz="1150" dirty="0">
                <a:solidFill>
                  <a:srgbClr val="3B3535"/>
                </a:solidFill>
                <a:latin typeface="Roboto Light" pitchFamily="34" charset="0"/>
                <a:ea typeface="Roboto Light" pitchFamily="34" charset="-122"/>
                <a:cs typeface="Roboto Light" pitchFamily="34" charset="-120"/>
              </a:rPr>
              <a:t>Formulas &amp; calculated fields</a:t>
            </a:r>
            <a:endParaRPr lang="en-US" sz="1150" dirty="0"/>
          </a:p>
          <a:p>
            <a:pPr marL="233680" indent="-233680" algn="l">
              <a:lnSpc>
                <a:spcPct val="133000"/>
              </a:lnSpc>
              <a:buSzPct val="100000"/>
              <a:buChar char="•"/>
            </a:pPr>
            <a:r>
              <a:rPr lang="en-US" sz="1150" dirty="0">
                <a:solidFill>
                  <a:srgbClr val="3B3535"/>
                </a:solidFill>
                <a:latin typeface="Roboto Light" pitchFamily="34" charset="0"/>
                <a:ea typeface="Roboto Light" pitchFamily="34" charset="-122"/>
                <a:cs typeface="Roboto Light" pitchFamily="34" charset="-120"/>
              </a:rPr>
              <a:t>Pivot Tables &amp; Pivot Charts</a:t>
            </a:r>
            <a:endParaRPr lang="en-US" sz="1150" dirty="0"/>
          </a:p>
          <a:p>
            <a:pPr marL="233680" indent="-233680" algn="l">
              <a:lnSpc>
                <a:spcPct val="133000"/>
              </a:lnSpc>
              <a:buSzPct val="100000"/>
              <a:buChar char="•"/>
            </a:pPr>
            <a:r>
              <a:rPr lang="en-US" sz="1150" dirty="0">
                <a:solidFill>
                  <a:srgbClr val="3B3535"/>
                </a:solidFill>
                <a:latin typeface="Roboto Light" pitchFamily="34" charset="0"/>
                <a:ea typeface="Roboto Light" pitchFamily="34" charset="-122"/>
                <a:cs typeface="Roboto Light" pitchFamily="34" charset="-120"/>
              </a:rPr>
              <a:t>Slicers &amp; Conditional Formatting</a:t>
            </a:r>
            <a:endParaRPr lang="en-US" sz="1150" dirty="0"/>
          </a:p>
          <a:p>
            <a:pPr marL="233680" indent="-233680" algn="l">
              <a:lnSpc>
                <a:spcPct val="133000"/>
              </a:lnSpc>
              <a:buSzPct val="100000"/>
              <a:buChar char="•"/>
            </a:pPr>
            <a:r>
              <a:rPr lang="en-US" sz="1150" dirty="0">
                <a:solidFill>
                  <a:srgbClr val="3B3535"/>
                </a:solidFill>
                <a:latin typeface="Roboto Light" pitchFamily="34" charset="0"/>
                <a:ea typeface="Roboto Light" pitchFamily="34" charset="-122"/>
                <a:cs typeface="Roboto Light" pitchFamily="34" charset="-120"/>
              </a:rPr>
              <a:t>Dashboard layout &amp; visualization</a:t>
            </a:r>
            <a:endParaRPr lang="en-US" sz="1150" dirty="0"/>
          </a:p>
        </p:txBody>
      </p:sp>
      <p:sp>
        <p:nvSpPr>
          <p:cNvPr id="6" name="Text 3"/>
          <p:cNvSpPr/>
          <p:nvPr/>
        </p:nvSpPr>
        <p:spPr>
          <a:xfrm>
            <a:off x="3912989" y="3735065"/>
            <a:ext cx="4712122" cy="47878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3B3535"/>
                </a:solidFill>
                <a:latin typeface="Roboto Light" pitchFamily="34" charset="0"/>
                <a:ea typeface="Roboto Light" pitchFamily="34" charset="-122"/>
                <a:cs typeface="Roboto Light" pitchFamily="34" charset="-120"/>
              </a:rPr>
              <a:t>Excel offers fast iteration, low barrier to entry and robust visualization for business-focused dashboards without complex programming.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52577" y="1628701"/>
            <a:ext cx="4667845" cy="704106"/>
          </a:xfrm>
          <a:prstGeom prst="rect">
            <a:avLst/>
          </a:prstGeom>
          <a:noFill/>
          <a:ln/>
        </p:spPr>
        <p:txBody>
          <a:bodyPr wrap="square" lIns="0" tIns="0" rIns="0" bIns="0" rtlCol="0" anchor="t">
            <a:normAutofit/>
          </a:bodyPr>
          <a:lstStyle/>
          <a:p>
            <a:pPr marL="0" indent="0" algn="l">
              <a:lnSpc>
                <a:spcPct val="104000"/>
              </a:lnSpc>
              <a:buNone/>
            </a:pPr>
            <a:r>
              <a:rPr lang="en-US" sz="2200" dirty="0">
                <a:solidFill>
                  <a:srgbClr val="1F1E1E"/>
                </a:solidFill>
                <a:latin typeface="Red Hat Text" pitchFamily="34" charset="0"/>
                <a:ea typeface="Red Hat Text" pitchFamily="34" charset="-122"/>
                <a:cs typeface="Red Hat Text" pitchFamily="34" charset="-120"/>
              </a:rPr>
              <a:t>From Raw Data to Interactive Dashboard</a:t>
            </a:r>
            <a:endParaRPr lang="en-US" sz="2200" dirty="0"/>
          </a:p>
        </p:txBody>
      </p:sp>
      <p:sp>
        <p:nvSpPr>
          <p:cNvPr id="4" name="Text 1"/>
          <p:cNvSpPr/>
          <p:nvPr/>
        </p:nvSpPr>
        <p:spPr>
          <a:xfrm>
            <a:off x="3952577" y="2557165"/>
            <a:ext cx="4667845" cy="95756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3B3535"/>
                </a:solidFill>
                <a:latin typeface="Roboto Light" pitchFamily="34" charset="0"/>
                <a:ea typeface="Roboto Light" pitchFamily="34" charset="-122"/>
                <a:cs typeface="Roboto Light" pitchFamily="34" charset="-120"/>
              </a:rPr>
              <a:t>Workflow: Data is collected, validated and structured. Calculated fields and categories are created, followed by pivot-based analysis and chart creation. Filters and slicers produce an interactive single-screen dashboard that supports exploratory analysis and quick reporting.</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52577" y="877044"/>
            <a:ext cx="4667845" cy="704106"/>
          </a:xfrm>
          <a:prstGeom prst="rect">
            <a:avLst/>
          </a:prstGeom>
          <a:noFill/>
          <a:ln/>
        </p:spPr>
        <p:txBody>
          <a:bodyPr wrap="square" lIns="0" tIns="0" rIns="0" bIns="0" rtlCol="0" anchor="t">
            <a:normAutofit/>
          </a:bodyPr>
          <a:lstStyle/>
          <a:p>
            <a:pPr marL="0" indent="0" algn="l">
              <a:lnSpc>
                <a:spcPct val="104000"/>
              </a:lnSpc>
              <a:buNone/>
            </a:pPr>
            <a:r>
              <a:rPr lang="en-US" sz="2200" dirty="0">
                <a:solidFill>
                  <a:srgbClr val="1F1E1E"/>
                </a:solidFill>
                <a:latin typeface="Red Hat Text" pitchFamily="34" charset="0"/>
                <a:ea typeface="Red Hat Text" pitchFamily="34" charset="-122"/>
                <a:cs typeface="Red Hat Text" pitchFamily="34" charset="-120"/>
              </a:rPr>
              <a:t>Interactive Swiggy Dashboard — Overview</a:t>
            </a:r>
            <a:endParaRPr lang="en-US" sz="2200" dirty="0"/>
          </a:p>
        </p:txBody>
      </p:sp>
      <p:sp>
        <p:nvSpPr>
          <p:cNvPr id="4" name="Text 1"/>
          <p:cNvSpPr/>
          <p:nvPr/>
        </p:nvSpPr>
        <p:spPr>
          <a:xfrm>
            <a:off x="3952577" y="1805508"/>
            <a:ext cx="5125045" cy="239390"/>
          </a:xfrm>
          <a:prstGeom prst="rect">
            <a:avLst/>
          </a:prstGeom>
          <a:noFill/>
          <a:ln/>
        </p:spPr>
        <p:txBody>
          <a:bodyPr wrap="none" lIns="0" tIns="0" rIns="0" bIns="0" rtlCol="0" anchor="t"/>
          <a:lstStyle/>
          <a:p>
            <a:pPr marL="0" indent="0" algn="l">
              <a:lnSpc>
                <a:spcPct val="133000"/>
              </a:lnSpc>
              <a:buNone/>
            </a:pPr>
            <a:r>
              <a:rPr lang="en-US" sz="1150" dirty="0">
                <a:solidFill>
                  <a:srgbClr val="3B3535"/>
                </a:solidFill>
                <a:latin typeface="Roboto Light" pitchFamily="34" charset="0"/>
                <a:ea typeface="Roboto Light" pitchFamily="34" charset="-122"/>
                <a:cs typeface="Roboto Light" pitchFamily="34" charset="-120"/>
              </a:rPr>
              <a:t>The dashboard consolidates core business views into one screen:</a:t>
            </a:r>
            <a:endParaRPr lang="en-US" sz="1150" dirty="0"/>
          </a:p>
        </p:txBody>
      </p:sp>
      <p:sp>
        <p:nvSpPr>
          <p:cNvPr id="5" name="Text 2"/>
          <p:cNvSpPr/>
          <p:nvPr/>
        </p:nvSpPr>
        <p:spPr>
          <a:xfrm>
            <a:off x="3952577" y="2213149"/>
            <a:ext cx="4667845" cy="1406203"/>
          </a:xfrm>
          <a:prstGeom prst="rect">
            <a:avLst/>
          </a:prstGeom>
          <a:noFill/>
          <a:ln/>
        </p:spPr>
        <p:txBody>
          <a:bodyPr wrap="square" lIns="0" tIns="59845" rIns="0" bIns="0" rtlCol="0" anchor="t">
            <a:normAutofit/>
          </a:bodyPr>
          <a:lstStyle/>
          <a:p>
            <a:pPr marL="233680" indent="-233680" algn="l">
              <a:lnSpc>
                <a:spcPct val="133000"/>
              </a:lnSpc>
              <a:buSzPct val="100000"/>
              <a:buChar char="•"/>
            </a:pPr>
            <a:r>
              <a:rPr lang="en-US" sz="1150" dirty="0">
                <a:solidFill>
                  <a:srgbClr val="3B3535"/>
                </a:solidFill>
                <a:latin typeface="Roboto Light" pitchFamily="34" charset="0"/>
                <a:ea typeface="Roboto Light" pitchFamily="34" charset="-122"/>
                <a:cs typeface="Roboto Light" pitchFamily="34" charset="-120"/>
              </a:rPr>
              <a:t>KPI cards (Sales, Orders, AOV, Rating)</a:t>
            </a:r>
            <a:endParaRPr lang="en-US" sz="1150" dirty="0"/>
          </a:p>
          <a:p>
            <a:pPr marL="233680" indent="-233680" algn="l">
              <a:lnSpc>
                <a:spcPct val="133000"/>
              </a:lnSpc>
              <a:buSzPct val="100000"/>
              <a:buChar char="•"/>
            </a:pPr>
            <a:r>
              <a:rPr lang="en-US" sz="1150" dirty="0">
                <a:solidFill>
                  <a:srgbClr val="3B3535"/>
                </a:solidFill>
                <a:latin typeface="Roboto Light" pitchFamily="34" charset="0"/>
                <a:ea typeface="Roboto Light" pitchFamily="34" charset="-122"/>
                <a:cs typeface="Roboto Light" pitchFamily="34" charset="-120"/>
              </a:rPr>
              <a:t>Monthly, Weekly &amp; Daily trend charts</a:t>
            </a:r>
            <a:endParaRPr lang="en-US" sz="1150" dirty="0"/>
          </a:p>
          <a:p>
            <a:pPr marL="233680" indent="-233680" algn="l">
              <a:lnSpc>
                <a:spcPct val="133000"/>
              </a:lnSpc>
              <a:buSzPct val="100000"/>
              <a:buChar char="•"/>
            </a:pPr>
            <a:r>
              <a:rPr lang="en-US" sz="1150" dirty="0">
                <a:solidFill>
                  <a:srgbClr val="3B3535"/>
                </a:solidFill>
                <a:latin typeface="Roboto Light" pitchFamily="34" charset="0"/>
                <a:ea typeface="Roboto Light" pitchFamily="34" charset="-122"/>
                <a:cs typeface="Roboto Light" pitchFamily="34" charset="-120"/>
              </a:rPr>
              <a:t>Sales by food type and state</a:t>
            </a:r>
            <a:endParaRPr lang="en-US" sz="1150" dirty="0"/>
          </a:p>
          <a:p>
            <a:pPr marL="233680" indent="-233680" algn="l">
              <a:lnSpc>
                <a:spcPct val="133000"/>
              </a:lnSpc>
              <a:buSzPct val="100000"/>
              <a:buChar char="•"/>
            </a:pPr>
            <a:r>
              <a:rPr lang="en-US" sz="1150" dirty="0">
                <a:solidFill>
                  <a:srgbClr val="3B3535"/>
                </a:solidFill>
                <a:latin typeface="Roboto Light" pitchFamily="34" charset="0"/>
                <a:ea typeface="Roboto Light" pitchFamily="34" charset="-122"/>
                <a:cs typeface="Roboto Light" pitchFamily="34" charset="-120"/>
              </a:rPr>
              <a:t>Top 5 cities &amp; quarterly breakdown</a:t>
            </a:r>
            <a:endParaRPr lang="en-US" sz="1150" dirty="0"/>
          </a:p>
          <a:p>
            <a:pPr marL="233680" indent="-233680" algn="l">
              <a:lnSpc>
                <a:spcPct val="133000"/>
              </a:lnSpc>
              <a:buSzPct val="100000"/>
              <a:buChar char="•"/>
            </a:pPr>
            <a:r>
              <a:rPr lang="en-US" sz="1150" dirty="0">
                <a:solidFill>
                  <a:srgbClr val="3B3535"/>
                </a:solidFill>
                <a:latin typeface="Roboto Light" pitchFamily="34" charset="0"/>
                <a:ea typeface="Roboto Light" pitchFamily="34" charset="-122"/>
                <a:cs typeface="Roboto Light" pitchFamily="34" charset="-120"/>
              </a:rPr>
              <a:t>Interactive filters: Date, City, Food Category, Restaurant</a:t>
            </a:r>
            <a:endParaRPr lang="en-US" sz="1150" dirty="0"/>
          </a:p>
        </p:txBody>
      </p:sp>
      <p:sp>
        <p:nvSpPr>
          <p:cNvPr id="6" name="Text 3"/>
          <p:cNvSpPr/>
          <p:nvPr/>
        </p:nvSpPr>
        <p:spPr>
          <a:xfrm>
            <a:off x="3952577" y="3787601"/>
            <a:ext cx="4667845" cy="47878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3B3535"/>
                </a:solidFill>
                <a:latin typeface="Roboto Light" pitchFamily="34" charset="0"/>
                <a:ea typeface="Roboto Light" pitchFamily="34" charset="-122"/>
                <a:cs typeface="Roboto Light" pitchFamily="34" charset="-120"/>
              </a:rPr>
              <a:t>This single-screen layout enables quick answers and faster decision-making for operations and strategy.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3577" y="523652"/>
            <a:ext cx="257101" cy="257101"/>
          </a:xfrm>
          <a:prstGeom prst="rect">
            <a:avLst/>
          </a:prstGeom>
        </p:spPr>
      </p:pic>
      <p:sp>
        <p:nvSpPr>
          <p:cNvPr id="3" name="Text 0"/>
          <p:cNvSpPr/>
          <p:nvPr/>
        </p:nvSpPr>
        <p:spPr>
          <a:xfrm>
            <a:off x="523577" y="869082"/>
            <a:ext cx="3922961" cy="151209"/>
          </a:xfrm>
          <a:prstGeom prst="rect">
            <a:avLst/>
          </a:prstGeom>
          <a:noFill/>
          <a:ln/>
        </p:spPr>
        <p:txBody>
          <a:bodyPr wrap="none" lIns="0" tIns="0" rIns="0" bIns="0" rtlCol="0" anchor="t"/>
          <a:lstStyle/>
          <a:p>
            <a:pPr marL="0" indent="0" algn="l">
              <a:lnSpc>
                <a:spcPct val="104000"/>
              </a:lnSpc>
              <a:buNone/>
            </a:pPr>
            <a:r>
              <a:rPr lang="en-US" sz="950" dirty="0">
                <a:solidFill>
                  <a:srgbClr val="3B3535"/>
                </a:solidFill>
                <a:latin typeface="Red Hat Text" pitchFamily="34" charset="0"/>
                <a:ea typeface="Red Hat Text" pitchFamily="34" charset="-122"/>
                <a:cs typeface="Red Hat Text" pitchFamily="34" charset="-120"/>
              </a:rPr>
              <a:t>Total Sales</a:t>
            </a:r>
            <a:endParaRPr lang="en-US" sz="950" dirty="0"/>
          </a:p>
        </p:txBody>
      </p:sp>
      <p:sp>
        <p:nvSpPr>
          <p:cNvPr id="4" name="Text 1"/>
          <p:cNvSpPr/>
          <p:nvPr/>
        </p:nvSpPr>
        <p:spPr>
          <a:xfrm>
            <a:off x="523577" y="1090985"/>
            <a:ext cx="3922961" cy="138782"/>
          </a:xfrm>
          <a:prstGeom prst="rect">
            <a:avLst/>
          </a:prstGeom>
          <a:noFill/>
          <a:ln/>
        </p:spPr>
        <p:txBody>
          <a:bodyPr wrap="none" lIns="0" tIns="0" rIns="0" bIns="0" rtlCol="0" anchor="t"/>
          <a:lstStyle/>
          <a:p>
            <a:pPr marL="0" indent="0" algn="l">
              <a:lnSpc>
                <a:spcPct val="113000"/>
              </a:lnSpc>
              <a:buNone/>
            </a:pPr>
            <a:r>
              <a:rPr lang="en-US" sz="800" dirty="0">
                <a:solidFill>
                  <a:srgbClr val="3B3535"/>
                </a:solidFill>
                <a:latin typeface="Roboto Light" pitchFamily="34" charset="0"/>
                <a:ea typeface="Roboto Light" pitchFamily="34" charset="-122"/>
                <a:cs typeface="Roboto Light" pitchFamily="34" charset="-120"/>
              </a:rPr>
              <a:t>₹53.01M</a:t>
            </a:r>
            <a:endParaRPr lang="en-US" sz="800" dirty="0"/>
          </a:p>
        </p:txBody>
      </p:sp>
      <p:pic>
        <p:nvPicPr>
          <p:cNvPr id="5"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3577" y="1371154"/>
            <a:ext cx="257101" cy="257101"/>
          </a:xfrm>
          <a:prstGeom prst="rect">
            <a:avLst/>
          </a:prstGeom>
        </p:spPr>
      </p:pic>
      <p:sp>
        <p:nvSpPr>
          <p:cNvPr id="6" name="Text 2"/>
          <p:cNvSpPr/>
          <p:nvPr/>
        </p:nvSpPr>
        <p:spPr>
          <a:xfrm>
            <a:off x="523577" y="1716584"/>
            <a:ext cx="3922961" cy="151209"/>
          </a:xfrm>
          <a:prstGeom prst="rect">
            <a:avLst/>
          </a:prstGeom>
          <a:noFill/>
          <a:ln/>
        </p:spPr>
        <p:txBody>
          <a:bodyPr wrap="none" lIns="0" tIns="0" rIns="0" bIns="0" rtlCol="0" anchor="t"/>
          <a:lstStyle/>
          <a:p>
            <a:pPr marL="0" indent="0" algn="l">
              <a:lnSpc>
                <a:spcPct val="104000"/>
              </a:lnSpc>
              <a:buNone/>
            </a:pPr>
            <a:r>
              <a:rPr lang="en-US" sz="950" dirty="0">
                <a:solidFill>
                  <a:srgbClr val="3B3535"/>
                </a:solidFill>
                <a:latin typeface="Red Hat Text" pitchFamily="34" charset="0"/>
                <a:ea typeface="Red Hat Text" pitchFamily="34" charset="-122"/>
                <a:cs typeface="Red Hat Text" pitchFamily="34" charset="-120"/>
              </a:rPr>
              <a:t>Average Rating</a:t>
            </a:r>
            <a:endParaRPr lang="en-US" sz="950" dirty="0"/>
          </a:p>
        </p:txBody>
      </p:sp>
      <p:sp>
        <p:nvSpPr>
          <p:cNvPr id="7" name="Text 3"/>
          <p:cNvSpPr/>
          <p:nvPr/>
        </p:nvSpPr>
        <p:spPr>
          <a:xfrm>
            <a:off x="523577" y="1938486"/>
            <a:ext cx="3922961" cy="138782"/>
          </a:xfrm>
          <a:prstGeom prst="rect">
            <a:avLst/>
          </a:prstGeom>
          <a:noFill/>
          <a:ln/>
        </p:spPr>
        <p:txBody>
          <a:bodyPr wrap="none" lIns="0" tIns="0" rIns="0" bIns="0" rtlCol="0" anchor="t"/>
          <a:lstStyle/>
          <a:p>
            <a:pPr marL="0" indent="0" algn="l">
              <a:lnSpc>
                <a:spcPct val="113000"/>
              </a:lnSpc>
              <a:buNone/>
            </a:pPr>
            <a:r>
              <a:rPr lang="en-US" sz="800" dirty="0">
                <a:solidFill>
                  <a:srgbClr val="3B3535"/>
                </a:solidFill>
                <a:latin typeface="Roboto Light" pitchFamily="34" charset="0"/>
                <a:ea typeface="Roboto Light" pitchFamily="34" charset="-122"/>
                <a:cs typeface="Roboto Light" pitchFamily="34" charset="-120"/>
              </a:rPr>
              <a:t>4.34</a:t>
            </a:r>
            <a:endParaRPr lang="en-US" sz="800" dirty="0"/>
          </a:p>
        </p:txBody>
      </p:sp>
      <p:pic>
        <p:nvPicPr>
          <p:cNvPr id="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3577" y="2218655"/>
            <a:ext cx="257101" cy="257101"/>
          </a:xfrm>
          <a:prstGeom prst="rect">
            <a:avLst/>
          </a:prstGeom>
        </p:spPr>
      </p:pic>
      <p:sp>
        <p:nvSpPr>
          <p:cNvPr id="9" name="Text 4"/>
          <p:cNvSpPr/>
          <p:nvPr/>
        </p:nvSpPr>
        <p:spPr>
          <a:xfrm>
            <a:off x="523577" y="2564085"/>
            <a:ext cx="3922961" cy="151209"/>
          </a:xfrm>
          <a:prstGeom prst="rect">
            <a:avLst/>
          </a:prstGeom>
          <a:noFill/>
          <a:ln/>
        </p:spPr>
        <p:txBody>
          <a:bodyPr wrap="none" lIns="0" tIns="0" rIns="0" bIns="0" rtlCol="0" anchor="t"/>
          <a:lstStyle/>
          <a:p>
            <a:pPr marL="0" indent="0" algn="l">
              <a:lnSpc>
                <a:spcPct val="104000"/>
              </a:lnSpc>
              <a:buNone/>
            </a:pPr>
            <a:r>
              <a:rPr lang="en-US" sz="950" dirty="0">
                <a:solidFill>
                  <a:srgbClr val="3B3535"/>
                </a:solidFill>
                <a:latin typeface="Red Hat Text" pitchFamily="34" charset="0"/>
                <a:ea typeface="Red Hat Text" pitchFamily="34" charset="-122"/>
                <a:cs typeface="Red Hat Text" pitchFamily="34" charset="-120"/>
              </a:rPr>
              <a:t>Avg Order Value</a:t>
            </a:r>
            <a:endParaRPr lang="en-US" sz="950" dirty="0"/>
          </a:p>
        </p:txBody>
      </p:sp>
      <p:sp>
        <p:nvSpPr>
          <p:cNvPr id="10" name="Text 5"/>
          <p:cNvSpPr/>
          <p:nvPr/>
        </p:nvSpPr>
        <p:spPr>
          <a:xfrm>
            <a:off x="523577" y="2785988"/>
            <a:ext cx="3922961" cy="138782"/>
          </a:xfrm>
          <a:prstGeom prst="rect">
            <a:avLst/>
          </a:prstGeom>
          <a:noFill/>
          <a:ln/>
        </p:spPr>
        <p:txBody>
          <a:bodyPr wrap="none" lIns="0" tIns="0" rIns="0" bIns="0" rtlCol="0" anchor="t"/>
          <a:lstStyle/>
          <a:p>
            <a:pPr marL="0" indent="0" algn="l">
              <a:lnSpc>
                <a:spcPct val="113000"/>
              </a:lnSpc>
              <a:buNone/>
            </a:pPr>
            <a:r>
              <a:rPr lang="en-US" sz="800" dirty="0">
                <a:solidFill>
                  <a:srgbClr val="3B3535"/>
                </a:solidFill>
                <a:latin typeface="Roboto Light" pitchFamily="34" charset="0"/>
                <a:ea typeface="Roboto Light" pitchFamily="34" charset="-122"/>
                <a:cs typeface="Roboto Light" pitchFamily="34" charset="-120"/>
              </a:rPr>
              <a:t>₹268.51</a:t>
            </a:r>
            <a:endParaRPr lang="en-US" sz="800" dirty="0"/>
          </a:p>
        </p:txBody>
      </p:sp>
      <p:pic>
        <p:nvPicPr>
          <p:cNvPr id="1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23577" y="3066157"/>
            <a:ext cx="257101" cy="257101"/>
          </a:xfrm>
          <a:prstGeom prst="rect">
            <a:avLst/>
          </a:prstGeom>
        </p:spPr>
      </p:pic>
      <p:sp>
        <p:nvSpPr>
          <p:cNvPr id="12" name="Text 6"/>
          <p:cNvSpPr/>
          <p:nvPr/>
        </p:nvSpPr>
        <p:spPr>
          <a:xfrm>
            <a:off x="523577" y="3411587"/>
            <a:ext cx="3922961" cy="151209"/>
          </a:xfrm>
          <a:prstGeom prst="rect">
            <a:avLst/>
          </a:prstGeom>
          <a:noFill/>
          <a:ln/>
        </p:spPr>
        <p:txBody>
          <a:bodyPr wrap="none" lIns="0" tIns="0" rIns="0" bIns="0" rtlCol="0" anchor="t"/>
          <a:lstStyle/>
          <a:p>
            <a:pPr marL="0" indent="0" algn="l">
              <a:lnSpc>
                <a:spcPct val="104000"/>
              </a:lnSpc>
              <a:buNone/>
            </a:pPr>
            <a:r>
              <a:rPr lang="en-US" sz="950" dirty="0">
                <a:solidFill>
                  <a:srgbClr val="3B3535"/>
                </a:solidFill>
                <a:latin typeface="Red Hat Text" pitchFamily="34" charset="0"/>
                <a:ea typeface="Red Hat Text" pitchFamily="34" charset="-122"/>
                <a:cs typeface="Red Hat Text" pitchFamily="34" charset="-120"/>
              </a:rPr>
              <a:t>Rating Count</a:t>
            </a:r>
            <a:endParaRPr lang="en-US" sz="950" dirty="0"/>
          </a:p>
        </p:txBody>
      </p:sp>
      <p:sp>
        <p:nvSpPr>
          <p:cNvPr id="13" name="Text 7"/>
          <p:cNvSpPr/>
          <p:nvPr/>
        </p:nvSpPr>
        <p:spPr>
          <a:xfrm>
            <a:off x="523577" y="3633490"/>
            <a:ext cx="3922961" cy="138782"/>
          </a:xfrm>
          <a:prstGeom prst="rect">
            <a:avLst/>
          </a:prstGeom>
          <a:noFill/>
          <a:ln/>
        </p:spPr>
        <p:txBody>
          <a:bodyPr wrap="none" lIns="0" tIns="0" rIns="0" bIns="0" rtlCol="0" anchor="t"/>
          <a:lstStyle/>
          <a:p>
            <a:pPr marL="0" indent="0" algn="l">
              <a:lnSpc>
                <a:spcPct val="113000"/>
              </a:lnSpc>
              <a:buNone/>
            </a:pPr>
            <a:r>
              <a:rPr lang="en-US" sz="800" dirty="0">
                <a:solidFill>
                  <a:srgbClr val="3B3535"/>
                </a:solidFill>
                <a:latin typeface="Roboto Light" pitchFamily="34" charset="0"/>
                <a:ea typeface="Roboto Light" pitchFamily="34" charset="-122"/>
                <a:cs typeface="Roboto Light" pitchFamily="34" charset="-120"/>
              </a:rPr>
              <a:t>5.59M</a:t>
            </a:r>
            <a:endParaRPr lang="en-US" sz="800" dirty="0"/>
          </a:p>
        </p:txBody>
      </p:sp>
      <p:pic>
        <p:nvPicPr>
          <p:cNvPr id="14"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23577" y="3913659"/>
            <a:ext cx="257101" cy="257101"/>
          </a:xfrm>
          <a:prstGeom prst="rect">
            <a:avLst/>
          </a:prstGeom>
        </p:spPr>
      </p:pic>
      <p:sp>
        <p:nvSpPr>
          <p:cNvPr id="15" name="Text 8"/>
          <p:cNvSpPr/>
          <p:nvPr/>
        </p:nvSpPr>
        <p:spPr>
          <a:xfrm>
            <a:off x="523577" y="4259089"/>
            <a:ext cx="3922961" cy="151209"/>
          </a:xfrm>
          <a:prstGeom prst="rect">
            <a:avLst/>
          </a:prstGeom>
          <a:noFill/>
          <a:ln/>
        </p:spPr>
        <p:txBody>
          <a:bodyPr wrap="none" lIns="0" tIns="0" rIns="0" bIns="0" rtlCol="0" anchor="t"/>
          <a:lstStyle/>
          <a:p>
            <a:pPr marL="0" indent="0" algn="l">
              <a:lnSpc>
                <a:spcPct val="104000"/>
              </a:lnSpc>
              <a:buNone/>
            </a:pPr>
            <a:r>
              <a:rPr lang="en-US" sz="950" dirty="0">
                <a:solidFill>
                  <a:srgbClr val="3B3535"/>
                </a:solidFill>
                <a:latin typeface="Red Hat Text" pitchFamily="34" charset="0"/>
                <a:ea typeface="Red Hat Text" pitchFamily="34" charset="-122"/>
                <a:cs typeface="Red Hat Text" pitchFamily="34" charset="-120"/>
              </a:rPr>
              <a:t>Total Orders</a:t>
            </a:r>
            <a:endParaRPr lang="en-US" sz="950" dirty="0"/>
          </a:p>
        </p:txBody>
      </p:sp>
      <p:sp>
        <p:nvSpPr>
          <p:cNvPr id="16" name="Text 9"/>
          <p:cNvSpPr/>
          <p:nvPr/>
        </p:nvSpPr>
        <p:spPr>
          <a:xfrm>
            <a:off x="523577" y="4480992"/>
            <a:ext cx="3922961" cy="138782"/>
          </a:xfrm>
          <a:prstGeom prst="rect">
            <a:avLst/>
          </a:prstGeom>
          <a:noFill/>
          <a:ln/>
        </p:spPr>
        <p:txBody>
          <a:bodyPr wrap="none" lIns="0" tIns="0" rIns="0" bIns="0" rtlCol="0" anchor="t"/>
          <a:lstStyle/>
          <a:p>
            <a:pPr marL="0" indent="0" algn="l">
              <a:lnSpc>
                <a:spcPct val="113000"/>
              </a:lnSpc>
              <a:buNone/>
            </a:pPr>
            <a:r>
              <a:rPr lang="en-US" sz="800" dirty="0">
                <a:solidFill>
                  <a:srgbClr val="3B3535"/>
                </a:solidFill>
                <a:latin typeface="Roboto Light" pitchFamily="34" charset="0"/>
                <a:ea typeface="Roboto Light" pitchFamily="34" charset="-122"/>
                <a:cs typeface="Roboto Light" pitchFamily="34" charset="-120"/>
              </a:rPr>
              <a:t>197.43K</a:t>
            </a:r>
            <a:endParaRPr lang="en-US" sz="800" dirty="0"/>
          </a:p>
        </p:txBody>
      </p:sp>
      <p:sp>
        <p:nvSpPr>
          <p:cNvPr id="17" name="Text 10"/>
          <p:cNvSpPr/>
          <p:nvPr/>
        </p:nvSpPr>
        <p:spPr>
          <a:xfrm>
            <a:off x="4702225" y="514796"/>
            <a:ext cx="3922961" cy="241995"/>
          </a:xfrm>
          <a:prstGeom prst="rect">
            <a:avLst/>
          </a:prstGeom>
          <a:noFill/>
          <a:ln/>
        </p:spPr>
        <p:txBody>
          <a:bodyPr wrap="none" lIns="0" tIns="0" rIns="0" bIns="0" rtlCol="0" anchor="t"/>
          <a:lstStyle/>
          <a:p>
            <a:pPr marL="0" indent="0" algn="l">
              <a:lnSpc>
                <a:spcPct val="104000"/>
              </a:lnSpc>
              <a:buNone/>
            </a:pPr>
            <a:r>
              <a:rPr lang="en-US" sz="1500" dirty="0">
                <a:solidFill>
                  <a:srgbClr val="1F1E1E"/>
                </a:solidFill>
                <a:latin typeface="Red Hat Text" pitchFamily="34" charset="0"/>
                <a:ea typeface="Red Hat Text" pitchFamily="34" charset="-122"/>
                <a:cs typeface="Red Hat Text" pitchFamily="34" charset="-120"/>
              </a:rPr>
              <a:t>Key Performance Indicators</a:t>
            </a:r>
            <a:endParaRPr lang="en-US" sz="1500" dirty="0"/>
          </a:p>
        </p:txBody>
      </p:sp>
      <p:sp>
        <p:nvSpPr>
          <p:cNvPr id="18" name="Text 11"/>
          <p:cNvSpPr/>
          <p:nvPr/>
        </p:nvSpPr>
        <p:spPr>
          <a:xfrm>
            <a:off x="4702225" y="827484"/>
            <a:ext cx="3922961" cy="416347"/>
          </a:xfrm>
          <a:prstGeom prst="rect">
            <a:avLst/>
          </a:prstGeom>
          <a:noFill/>
          <a:ln/>
        </p:spPr>
        <p:txBody>
          <a:bodyPr wrap="square" lIns="0" tIns="0" rIns="0" bIns="0" rtlCol="0" anchor="t">
            <a:normAutofit/>
          </a:bodyPr>
          <a:lstStyle/>
          <a:p>
            <a:pPr marL="0" indent="0" algn="l">
              <a:lnSpc>
                <a:spcPct val="113000"/>
              </a:lnSpc>
              <a:buNone/>
            </a:pPr>
            <a:r>
              <a:rPr lang="en-US" sz="800" dirty="0">
                <a:solidFill>
                  <a:srgbClr val="3B3535"/>
                </a:solidFill>
                <a:latin typeface="Roboto Light" pitchFamily="34" charset="0"/>
                <a:ea typeface="Roboto Light" pitchFamily="34" charset="-122"/>
                <a:cs typeface="Roboto Light" pitchFamily="34" charset="-120"/>
              </a:rPr>
              <a:t>These KPI cards provide an at-a-glance summary of business health and customer engagement. Presenting them prominently helps stakeholders assess performance immediately and drill down for root-cause analysis using slicers.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23577" y="873696"/>
            <a:ext cx="3865959" cy="2782714"/>
          </a:xfrm>
          <a:prstGeom prst="rect">
            <a:avLst/>
          </a:prstGeom>
        </p:spPr>
      </p:pic>
      <p:sp>
        <p:nvSpPr>
          <p:cNvPr id="3" name="Text 0"/>
          <p:cNvSpPr/>
          <p:nvPr/>
        </p:nvSpPr>
        <p:spPr>
          <a:xfrm>
            <a:off x="523577" y="3824660"/>
            <a:ext cx="3865959" cy="47878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3B3535"/>
                </a:solidFill>
                <a:latin typeface="Roboto Light" pitchFamily="34" charset="0"/>
                <a:ea typeface="Roboto Light" pitchFamily="34" charset="-122"/>
                <a:cs typeface="Roboto Light" pitchFamily="34" charset="-120"/>
              </a:rPr>
              <a:t>Monthly Sales Trend (Jan–Aug) — line shows overall momentum and seasonal shifts.</a:t>
            </a:r>
            <a:endParaRPr lang="en-US" sz="1150" dirty="0"/>
          </a:p>
        </p:txBody>
      </p:sp>
      <p:pic>
        <p:nvPicPr>
          <p:cNvPr id="4" name="Image 1" descr="preencoded.png"/>
          <p:cNvPicPr>
            <a:picLocks noChangeAspect="1"/>
          </p:cNvPicPr>
          <p:nvPr/>
        </p:nvPicPr>
        <p:blipFill>
          <a:blip r:embed="rId4"/>
          <a:stretch>
            <a:fillRect/>
          </a:stretch>
        </p:blipFill>
        <p:spPr>
          <a:xfrm>
            <a:off x="4759226" y="873696"/>
            <a:ext cx="3865959" cy="2782714"/>
          </a:xfrm>
          <a:prstGeom prst="rect">
            <a:avLst/>
          </a:prstGeom>
        </p:spPr>
      </p:pic>
      <p:sp>
        <p:nvSpPr>
          <p:cNvPr id="5" name="Text 1"/>
          <p:cNvSpPr/>
          <p:nvPr/>
        </p:nvSpPr>
        <p:spPr>
          <a:xfrm>
            <a:off x="4759226" y="3824660"/>
            <a:ext cx="3865959" cy="47878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3B3535"/>
                </a:solidFill>
                <a:latin typeface="Roboto Light" pitchFamily="34" charset="0"/>
                <a:ea typeface="Roboto Light" pitchFamily="34" charset="-122"/>
                <a:cs typeface="Roboto Light" pitchFamily="34" charset="-120"/>
              </a:rPr>
              <a:t>Daily &amp; Weekly Trends — identify peak weekdays and weekend spikes to optimise operations and marketing.</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23577" y="941784"/>
            <a:ext cx="3897288" cy="2805261"/>
          </a:xfrm>
          <a:prstGeom prst="rect">
            <a:avLst/>
          </a:prstGeom>
        </p:spPr>
      </p:pic>
      <p:sp>
        <p:nvSpPr>
          <p:cNvPr id="3" name="Text 0"/>
          <p:cNvSpPr/>
          <p:nvPr/>
        </p:nvSpPr>
        <p:spPr>
          <a:xfrm>
            <a:off x="523577" y="3862462"/>
            <a:ext cx="3897288" cy="362396"/>
          </a:xfrm>
          <a:prstGeom prst="rect">
            <a:avLst/>
          </a:prstGeom>
          <a:noFill/>
          <a:ln/>
        </p:spPr>
        <p:txBody>
          <a:bodyPr wrap="square" lIns="0" tIns="0" rIns="0" bIns="0" rtlCol="0" anchor="t">
            <a:normAutofit/>
          </a:bodyPr>
          <a:lstStyle/>
          <a:p>
            <a:pPr marL="0" indent="0" algn="l">
              <a:lnSpc>
                <a:spcPct val="122000"/>
              </a:lnSpc>
              <a:buNone/>
            </a:pPr>
            <a:r>
              <a:rPr lang="en-US" sz="950" dirty="0">
                <a:solidFill>
                  <a:srgbClr val="3B3535"/>
                </a:solidFill>
                <a:latin typeface="Roboto Light" pitchFamily="34" charset="0"/>
                <a:ea typeface="Roboto Light" pitchFamily="34" charset="-122"/>
                <a:cs typeface="Roboto Light" pitchFamily="34" charset="-120"/>
              </a:rPr>
              <a:t>Food Type Contribution — donut chart compares Veg vs Non-Veg sales share.</a:t>
            </a:r>
            <a:endParaRPr lang="en-US" sz="950" dirty="0"/>
          </a:p>
        </p:txBody>
      </p:sp>
      <p:pic>
        <p:nvPicPr>
          <p:cNvPr id="4" name="Image 1" descr="preencoded.png"/>
          <p:cNvPicPr>
            <a:picLocks noChangeAspect="1"/>
          </p:cNvPicPr>
          <p:nvPr/>
        </p:nvPicPr>
        <p:blipFill>
          <a:blip r:embed="rId4"/>
          <a:stretch>
            <a:fillRect/>
          </a:stretch>
        </p:blipFill>
        <p:spPr>
          <a:xfrm>
            <a:off x="4727897" y="535112"/>
            <a:ext cx="3897288" cy="2192164"/>
          </a:xfrm>
          <a:prstGeom prst="rect">
            <a:avLst/>
          </a:prstGeom>
        </p:spPr>
      </p:pic>
      <p:sp>
        <p:nvSpPr>
          <p:cNvPr id="5" name="Text 1"/>
          <p:cNvSpPr/>
          <p:nvPr/>
        </p:nvSpPr>
        <p:spPr>
          <a:xfrm>
            <a:off x="4727897" y="2842692"/>
            <a:ext cx="3897288" cy="182166"/>
          </a:xfrm>
          <a:prstGeom prst="rect">
            <a:avLst/>
          </a:prstGeom>
          <a:noFill/>
          <a:ln/>
        </p:spPr>
        <p:txBody>
          <a:bodyPr wrap="none" lIns="0" tIns="0" rIns="0" bIns="0" rtlCol="0" anchor="t"/>
          <a:lstStyle/>
          <a:p>
            <a:pPr marL="0" indent="0" algn="l">
              <a:lnSpc>
                <a:spcPct val="104000"/>
              </a:lnSpc>
              <a:buNone/>
            </a:pPr>
            <a:r>
              <a:rPr lang="en-US" sz="1100" dirty="0">
                <a:solidFill>
                  <a:srgbClr val="1F1E1E"/>
                </a:solidFill>
                <a:latin typeface="Red Hat Text" pitchFamily="34" charset="0"/>
                <a:ea typeface="Red Hat Text" pitchFamily="34" charset="-122"/>
                <a:cs typeface="Red Hat Text" pitchFamily="34" charset="-120"/>
              </a:rPr>
              <a:t>Top 5 Cities by Sales</a:t>
            </a:r>
            <a:endParaRPr lang="en-US" sz="1100" dirty="0"/>
          </a:p>
        </p:txBody>
      </p:sp>
      <p:sp>
        <p:nvSpPr>
          <p:cNvPr id="6" name="Text 2"/>
          <p:cNvSpPr/>
          <p:nvPr/>
        </p:nvSpPr>
        <p:spPr>
          <a:xfrm>
            <a:off x="4727897" y="3127400"/>
            <a:ext cx="3897288" cy="1049462"/>
          </a:xfrm>
          <a:prstGeom prst="rect">
            <a:avLst/>
          </a:prstGeom>
          <a:noFill/>
          <a:ln/>
        </p:spPr>
        <p:txBody>
          <a:bodyPr wrap="square" lIns="0" tIns="0" rIns="0" bIns="0" rtlCol="0" anchor="t">
            <a:normAutofit/>
          </a:bodyPr>
          <a:lstStyle/>
          <a:p>
            <a:pPr marL="193040" indent="-193040" algn="l">
              <a:lnSpc>
                <a:spcPct val="122000"/>
              </a:lnSpc>
              <a:buSzPct val="100000"/>
              <a:buFont typeface="+mj-lt"/>
              <a:buAutoNum type="arabicPeriod"/>
            </a:pPr>
            <a:r>
              <a:rPr lang="en-US" sz="950" dirty="0">
                <a:solidFill>
                  <a:srgbClr val="3B3535"/>
                </a:solidFill>
                <a:latin typeface="Roboto Light" pitchFamily="34" charset="0"/>
                <a:ea typeface="Roboto Light" pitchFamily="34" charset="-122"/>
                <a:cs typeface="Roboto Light" pitchFamily="34" charset="-120"/>
              </a:rPr>
              <a:t>Bengaluru — ₹5.46M</a:t>
            </a:r>
            <a:endParaRPr lang="en-US" sz="950" dirty="0"/>
          </a:p>
          <a:p>
            <a:pPr marL="193040" indent="-193040" algn="l">
              <a:lnSpc>
                <a:spcPct val="122000"/>
              </a:lnSpc>
              <a:buSzPct val="100000"/>
              <a:buFont typeface="+mj-lt"/>
              <a:buAutoNum type="arabicPeriod" startAt="2"/>
            </a:pPr>
            <a:r>
              <a:rPr lang="en-US" sz="950" dirty="0">
                <a:solidFill>
                  <a:srgbClr val="3B3535"/>
                </a:solidFill>
                <a:latin typeface="Roboto Light" pitchFamily="34" charset="0"/>
                <a:ea typeface="Roboto Light" pitchFamily="34" charset="-122"/>
                <a:cs typeface="Roboto Light" pitchFamily="34" charset="-120"/>
              </a:rPr>
              <a:t>Lucknow — ₹3.12M</a:t>
            </a:r>
            <a:endParaRPr lang="en-US" sz="950" dirty="0"/>
          </a:p>
          <a:p>
            <a:pPr marL="193040" indent="-193040" algn="l">
              <a:lnSpc>
                <a:spcPct val="122000"/>
              </a:lnSpc>
              <a:buSzPct val="100000"/>
              <a:buFont typeface="+mj-lt"/>
              <a:buAutoNum type="arabicPeriod" startAt="3"/>
            </a:pPr>
            <a:r>
              <a:rPr lang="en-US" sz="950" dirty="0">
                <a:solidFill>
                  <a:srgbClr val="3B3535"/>
                </a:solidFill>
                <a:latin typeface="Roboto Light" pitchFamily="34" charset="0"/>
                <a:ea typeface="Roboto Light" pitchFamily="34" charset="-122"/>
                <a:cs typeface="Roboto Light" pitchFamily="34" charset="-120"/>
              </a:rPr>
              <a:t>Hyderabad — ₹3.02M</a:t>
            </a:r>
            <a:endParaRPr lang="en-US" sz="950" dirty="0"/>
          </a:p>
          <a:p>
            <a:pPr marL="193040" indent="-193040" algn="l">
              <a:lnSpc>
                <a:spcPct val="122000"/>
              </a:lnSpc>
              <a:buSzPct val="100000"/>
              <a:buFont typeface="+mj-lt"/>
              <a:buAutoNum type="arabicPeriod" startAt="4"/>
            </a:pPr>
            <a:r>
              <a:rPr lang="en-US" sz="950" dirty="0">
                <a:solidFill>
                  <a:srgbClr val="3B3535"/>
                </a:solidFill>
                <a:latin typeface="Roboto Light" pitchFamily="34" charset="0"/>
                <a:ea typeface="Roboto Light" pitchFamily="34" charset="-122"/>
                <a:cs typeface="Roboto Light" pitchFamily="34" charset="-120"/>
              </a:rPr>
              <a:t>Mumbai — ₹3.02M</a:t>
            </a:r>
            <a:endParaRPr lang="en-US" sz="950" dirty="0"/>
          </a:p>
          <a:p>
            <a:pPr marL="193040" indent="-193040" algn="l">
              <a:lnSpc>
                <a:spcPct val="122000"/>
              </a:lnSpc>
              <a:buSzPct val="100000"/>
              <a:buFont typeface="+mj-lt"/>
              <a:buAutoNum type="arabicPeriod" startAt="5"/>
            </a:pPr>
            <a:r>
              <a:rPr lang="en-US" sz="950" dirty="0">
                <a:solidFill>
                  <a:srgbClr val="3B3535"/>
                </a:solidFill>
                <a:latin typeface="Roboto Light" pitchFamily="34" charset="0"/>
                <a:ea typeface="Roboto Light" pitchFamily="34" charset="-122"/>
                <a:cs typeface="Roboto Light" pitchFamily="34" charset="-120"/>
              </a:rPr>
              <a:t>New Delhi — ₹2.82M</a:t>
            </a:r>
            <a:endParaRPr lang="en-US" sz="950" dirty="0"/>
          </a:p>
        </p:txBody>
      </p:sp>
      <p:sp>
        <p:nvSpPr>
          <p:cNvPr id="7" name="Text 3"/>
          <p:cNvSpPr/>
          <p:nvPr/>
        </p:nvSpPr>
        <p:spPr>
          <a:xfrm>
            <a:off x="4727897" y="4269135"/>
            <a:ext cx="3897288" cy="362396"/>
          </a:xfrm>
          <a:prstGeom prst="rect">
            <a:avLst/>
          </a:prstGeom>
          <a:noFill/>
          <a:ln/>
        </p:spPr>
        <p:txBody>
          <a:bodyPr wrap="square" lIns="0" tIns="0" rIns="0" bIns="0" rtlCol="0" anchor="t">
            <a:normAutofit/>
          </a:bodyPr>
          <a:lstStyle/>
          <a:p>
            <a:pPr marL="0" indent="0" algn="l">
              <a:lnSpc>
                <a:spcPct val="122000"/>
              </a:lnSpc>
              <a:buNone/>
            </a:pPr>
            <a:r>
              <a:rPr lang="en-US" sz="950" dirty="0">
                <a:solidFill>
                  <a:srgbClr val="3B3535"/>
                </a:solidFill>
                <a:latin typeface="Roboto Light" pitchFamily="34" charset="0"/>
                <a:ea typeface="Roboto Light" pitchFamily="34" charset="-122"/>
                <a:cs typeface="Roboto Light" pitchFamily="34" charset="-120"/>
              </a:rPr>
              <a:t>Geographic analysis helps target city-level operations and promotional spend.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23577" y="1796355"/>
            <a:ext cx="8096845" cy="440010"/>
          </a:xfrm>
          <a:prstGeom prst="rect">
            <a:avLst/>
          </a:prstGeom>
          <a:noFill/>
          <a:ln/>
        </p:spPr>
        <p:txBody>
          <a:bodyPr wrap="none" lIns="0" tIns="0" rIns="0" bIns="0" rtlCol="0" anchor="t"/>
          <a:lstStyle/>
          <a:p>
            <a:pPr marL="0" indent="0" algn="ctr">
              <a:lnSpc>
                <a:spcPct val="104000"/>
              </a:lnSpc>
              <a:buNone/>
            </a:pPr>
            <a:r>
              <a:rPr lang="en-US" sz="2750" dirty="0">
                <a:solidFill>
                  <a:srgbClr val="1F1E1E"/>
                </a:solidFill>
                <a:latin typeface="Red Hat Text" pitchFamily="34" charset="0"/>
                <a:ea typeface="Red Hat Text" pitchFamily="34" charset="-122"/>
                <a:cs typeface="Red Hat Text" pitchFamily="34" charset="-120"/>
              </a:rPr>
              <a:t>Thank You for Your Attention!</a:t>
            </a:r>
            <a:endParaRPr lang="en-US" sz="2750" dirty="0"/>
          </a:p>
        </p:txBody>
      </p:sp>
      <p:sp>
        <p:nvSpPr>
          <p:cNvPr id="3" name="Text 1"/>
          <p:cNvSpPr/>
          <p:nvPr/>
        </p:nvSpPr>
        <p:spPr>
          <a:xfrm>
            <a:off x="523577" y="2460724"/>
            <a:ext cx="8096845" cy="886420"/>
          </a:xfrm>
          <a:prstGeom prst="rect">
            <a:avLst/>
          </a:prstGeom>
          <a:noFill/>
          <a:ln/>
        </p:spPr>
        <p:txBody>
          <a:bodyPr wrap="square" lIns="0" tIns="0" rIns="0" bIns="0" rtlCol="0" anchor="t">
            <a:normAutofit/>
          </a:bodyPr>
          <a:lstStyle/>
          <a:p>
            <a:pPr marL="0" indent="0" algn="ctr">
              <a:lnSpc>
                <a:spcPct val="133000"/>
              </a:lnSpc>
              <a:spcAft>
                <a:spcPts val="1300"/>
              </a:spcAft>
              <a:buNone/>
            </a:pPr>
            <a:r>
              <a:rPr lang="en-US" sz="1150" dirty="0">
                <a:solidFill>
                  <a:srgbClr val="3B3535"/>
                </a:solidFill>
                <a:latin typeface="Roboto Light" pitchFamily="34" charset="0"/>
                <a:ea typeface="Roboto Light" pitchFamily="34" charset="-122"/>
                <a:cs typeface="Roboto Light" pitchFamily="34" charset="-120"/>
              </a:rPr>
              <a:t>We appreciate your time and engagement today. We hope this interactive dashboard project has provided a clear and valuable understanding of Swiggy's sales and business analytics.</a:t>
            </a:r>
            <a:endParaRPr lang="en-US" sz="1150" dirty="0"/>
          </a:p>
          <a:p>
            <a:pPr marL="0" indent="0" algn="ctr">
              <a:lnSpc>
                <a:spcPct val="133000"/>
              </a:lnSpc>
              <a:buNone/>
            </a:pPr>
            <a:r>
              <a:rPr lang="en-US" sz="1150" b="1" dirty="0">
                <a:solidFill>
                  <a:srgbClr val="3B3535"/>
                </a:solidFill>
                <a:latin typeface="Roboto Bold" pitchFamily="34" charset="0"/>
                <a:ea typeface="Roboto Bold" pitchFamily="34" charset="-122"/>
                <a:cs typeface="Roboto Bold" pitchFamily="34" charset="-120"/>
              </a:rPr>
              <a:t>Presented by:</a:t>
            </a:r>
            <a:r>
              <a:rPr lang="en-US" sz="1150" dirty="0">
                <a:solidFill>
                  <a:srgbClr val="3B3535"/>
                </a:solidFill>
                <a:latin typeface="Roboto Light" pitchFamily="34" charset="0"/>
                <a:ea typeface="Roboto Light" pitchFamily="34" charset="-122"/>
                <a:cs typeface="Roboto Light" pitchFamily="34" charset="-120"/>
              </a:rPr>
              <a:t> Varshini M V</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578</Words>
  <Application>Microsoft Office PowerPoint</Application>
  <PresentationFormat>On-screen Show (16:9)</PresentationFormat>
  <Paragraphs>85</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Red Hat Text Light</vt:lpstr>
      <vt:lpstr>Roboto Light</vt:lpstr>
      <vt:lpstr>Roboto Bold</vt:lpstr>
      <vt:lpstr>Red Hat Text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Varshini MV</cp:lastModifiedBy>
  <cp:revision>1</cp:revision>
  <dcterms:created xsi:type="dcterms:W3CDTF">2026-08-14T12:39:28Z</dcterms:created>
  <dcterms:modified xsi:type="dcterms:W3CDTF">2026-08-14T13:01:08Z</dcterms:modified>
</cp:coreProperties>
</file>